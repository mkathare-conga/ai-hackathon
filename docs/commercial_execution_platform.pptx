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754880" cy="6803136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6304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Commercial Execution
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8E6E4"/>
                </a:solidFill>
                <a:latin typeface="Calibri"/>
              </a:rPr>
              <a:t>Revenue Leakage Investigator
is the first live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21945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A6A72"/>
                </a:solidFill>
                <a:latin typeface="Calibri"/>
              </a:rPr>
              <a:t>AI-powered platform for post-signature
commercial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3291840"/>
            <a:ext cx="292608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HACKATHON DEMO ·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2"/>
                </a:solidFill>
                <a:latin typeface="Calibri"/>
              </a:rPr>
              <a:t>Conga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92608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4"/>
                </a:solidFill>
                <a:latin typeface="Calibri"/>
              </a:rPr>
              <a:t>The contract is signed.
Revenue execution drifts.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2"/>
                </a:solidFill>
                <a:latin typeface="Calibri"/>
              </a:rPr>
              <a:t>Pricing rights, uplift clauses, and renewal obligations
are agreed in contracts — but rarely operationalized downstream.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7498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Contract says 5% annual uplift — billing stays flat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Amendment changes terms — ERP keeps using old rates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Renewal notice window passes — revenue uplift right expires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No single system connects contract truth to billing reality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463040"/>
            <a:ext cx="3200400" cy="4114800"/>
          </a:xfrm>
          <a:prstGeom prst="rect">
            <a:avLst/>
          </a:prstGeom>
          <a:solidFill>
            <a:srgbClr val="E2F0EF"/>
          </a:solidFill>
          <a:ln w="1905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00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605A"/>
                </a:solidFill>
                <a:latin typeface="Calibri"/>
              </a:rPr>
              <a:t>Real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116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224"/>
                </a:solidFill>
                <a:latin typeface="Calibri"/>
              </a:rPr>
              <a:t>Contract
5% annual uplift
30-day notice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2F1D"/>
                </a:solidFill>
                <a:latin typeface="Calibri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3375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2F1D"/>
                </a:solidFill>
                <a:latin typeface="Calibri"/>
              </a:rPr>
              <a:t>Billing
Flat rate. No change.
Every month. For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343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2F1D"/>
                </a:solidFill>
                <a:latin typeface="Calibri"/>
              </a:rPr>
              <a:t>Gap = leaked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92608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4"/>
                </a:solidFill>
                <a:latin typeface="Calibri"/>
              </a:rPr>
              <a:t>One shared evidence layer.
Many agents on top.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331720"/>
            <a:ext cx="9418320" cy="822960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8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Shared Evidence Layer  ·  Document Ingestion  ·  Clause Extraction  ·  Governing-Term Resolution  ·  AI Briefs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337560"/>
            <a:ext cx="2194560" cy="1280160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2011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224"/>
                </a:solidFill>
                <a:latin typeface="Calibri"/>
              </a:rPr>
              <a:t>Revenue Leakage
Investigator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16052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6605A"/>
                </a:solidFill>
                <a:latin typeface="Calibri"/>
              </a:rPr>
              <a:t>Live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3337560"/>
            <a:ext cx="2194560" cy="1280160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79" y="3429000"/>
            <a:ext cx="2011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224"/>
                </a:solidFill>
                <a:latin typeface="Calibri"/>
              </a:rPr>
              <a:t>Quote-to-Contract
Drift Detector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416052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A6A72"/>
                </a:solidFill>
                <a:latin typeface="Calibri"/>
              </a:rPr>
              <a:t>Planned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337560"/>
            <a:ext cx="2194560" cy="1280160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3429000"/>
            <a:ext cx="2011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224"/>
                </a:solidFill>
                <a:latin typeface="Calibri"/>
              </a:rPr>
              <a:t>Amendment
Impact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6052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A6A72"/>
                </a:solidFill>
                <a:latin typeface="Calibri"/>
              </a:rPr>
              <a:t>Planned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3337560"/>
            <a:ext cx="2194560" cy="1280160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3429000"/>
            <a:ext cx="2011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224"/>
                </a:solidFill>
                <a:latin typeface="Calibri"/>
              </a:rPr>
              <a:t>Billing vs Contract
Mismatch Finder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16052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A6A72"/>
                </a:solidFill>
                <a:latin typeface="Calibri"/>
              </a:rPr>
              <a:t>Planned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2"/>
                </a:solidFill>
                <a:latin typeface="Calibri"/>
              </a:rPr>
              <a:t>Contracts, amendments, invoices, and renewal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5212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A6A72"/>
                </a:solidFill>
                <a:latin typeface="Calibri"/>
              </a:rPr>
              <a:t>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5778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2"/>
                </a:solidFill>
                <a:latin typeface="Calibri"/>
              </a:rPr>
              <a:t>Documents &amp; Billing Data  (PDF, DOCX, ERP extract)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92608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FIRST LIVE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605A"/>
                </a:solidFill>
                <a:latin typeface="Calibri"/>
              </a:rPr>
              <a:t>Revenue Leakage
Investigator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2"/>
                </a:solidFill>
                <a:latin typeface="Calibri"/>
              </a:rPr>
              <a:t>Finds and quantifies missed revenue that the business was already entitled to charge.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Detects missed uplift — invoice vs. contract comparison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Predicts upcoming notice deadline failures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Resolves which document legally controls the rate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Quantifies exact dollar impact per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6324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Multi-document clause extraction (PDF + DOCX)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AI governs-term resolution across conflicting files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Deterministic revenue math — no hallucinations on numbers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Source-of-record verdict with evidence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880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92608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HOW IT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4"/>
                </a:solidFill>
                <a:latin typeface="Calibri"/>
              </a:rPr>
              <a:t>Conflicting documents are resolved,
not just listed.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77440"/>
            <a:ext cx="2377440" cy="914400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Amendment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Explicit override language
beats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263347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A6A72"/>
                </a:solidFill>
                <a:latin typeface="Calibri"/>
              </a:rP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377440"/>
            <a:ext cx="2377440" cy="914400"/>
          </a:xfrm>
          <a:prstGeom prst="rect">
            <a:avLst/>
          </a:prstGeom>
          <a:solidFill>
            <a:srgbClr val="2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2423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Renewal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834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Confirms or resets
committed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263347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A6A72"/>
                </a:solidFill>
                <a:latin typeface="Calibri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377440"/>
            <a:ext cx="2377440" cy="914400"/>
          </a:xfrm>
          <a:prstGeom prst="rect">
            <a:avLst/>
          </a:prstGeom>
          <a:solidFill>
            <a:srgbClr val="5A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2423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Order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834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Deal-specific schedule
overrides MSA defaults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63347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A6A72"/>
                </a:solidFill>
                <a:latin typeface="Calibri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2377440"/>
            <a:ext cx="2377440" cy="9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423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224"/>
                </a:solidFill>
                <a:latin typeface="Calibri"/>
              </a:rPr>
              <a:t>MSA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834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224"/>
                </a:solidFill>
                <a:latin typeface="Calibri"/>
              </a:rPr>
              <a:t>Baseline terms —
lowest precedence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2"/>
                </a:solidFill>
                <a:latin typeface="Calibri"/>
              </a:rPr>
              <a:t>Higher precedence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74980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800" b="1" dirty="0">
                <a:solidFill>
                  <a:srgbClr val="16605A"/>
                </a:solidFill>
                <a:latin typeface="Calibri"/>
              </a:rPr>
              <a:t>● </a:t>
            </a:r>
            <a:r>
              <a:rPr sz="1400" dirty="0">
                <a:solidFill>
                  <a:srgbClr val="1A2224"/>
                </a:solidFill>
                <a:latin typeface="Calibri"/>
              </a:rPr>
              <a:t>AI reads every uploaded document and extracts all uplift/override clauses</a:t>
            </a:r>
          </a:p>
          <a:p>
            <a:pPr>
              <a:spcBef>
                <a:spcPts val="800"/>
              </a:spcBef>
            </a:pPr>
            <a:r>
              <a:rPr sz="800" b="1" dirty="0">
                <a:solidFill>
                  <a:srgbClr val="16605A"/>
                </a:solidFill>
                <a:latin typeface="Calibri"/>
              </a:rPr>
              <a:t>● </a:t>
            </a:r>
            <a:r>
              <a:rPr sz="1400" dirty="0">
                <a:solidFill>
                  <a:srgbClr val="1A2224"/>
                </a:solidFill>
                <a:latin typeface="Calibri"/>
              </a:rPr>
              <a:t>Ranks by document type, version, and recency</a:t>
            </a:r>
          </a:p>
          <a:p>
            <a:pPr>
              <a:spcBef>
                <a:spcPts val="800"/>
              </a:spcBef>
            </a:pPr>
            <a:r>
              <a:rPr sz="800" b="1" dirty="0">
                <a:solidFill>
                  <a:srgbClr val="16605A"/>
                </a:solidFill>
                <a:latin typeface="Calibri"/>
              </a:rPr>
              <a:t>● </a:t>
            </a:r>
            <a:r>
              <a:rPr sz="1400" dirty="0">
                <a:solidFill>
                  <a:srgbClr val="1A2224"/>
                </a:solidFill>
                <a:latin typeface="Calibri"/>
              </a:rPr>
              <a:t>Flags the single controlling term with source evidence</a:t>
            </a:r>
          </a:p>
          <a:p>
            <a:pPr>
              <a:spcBef>
                <a:spcPts val="800"/>
              </a:spcBef>
            </a:pPr>
            <a:r>
              <a:rPr sz="800" b="1" dirty="0">
                <a:solidFill>
                  <a:srgbClr val="16605A"/>
                </a:solidFill>
                <a:latin typeface="Calibri"/>
              </a:rPr>
              <a:t>● </a:t>
            </a:r>
            <a:r>
              <a:rPr sz="1400" dirty="0">
                <a:solidFill>
                  <a:srgbClr val="1A2224"/>
                </a:solidFill>
                <a:latin typeface="Calibri"/>
              </a:rPr>
              <a:t>Unrelated documents are attached but do not affect revenue signals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3694176"/>
            <a:ext cx="3383280" cy="2660904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16605A"/>
                </a:solidFill>
                <a:latin typeface="Calibri"/>
              </a:rPr>
              <a:t>Demo: Summit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743200"/>
            <a:ext cx="30175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200" b="0" dirty="0">
              <a:solidFill>
                <a:srgbClr val="1A2224"/>
              </a:solidFill>
              <a:latin typeface="Calibri"/>
            </a:endParaRPr>
          </a:p>
          <a:p>
            <a:pPr algn="l"/>
            <a:endParaRPr lang="en-IN" sz="1200" dirty="0">
              <a:solidFill>
                <a:srgbClr val="1A2224"/>
              </a:solidFill>
              <a:latin typeface="Calibri"/>
            </a:endParaRPr>
          </a:p>
          <a:p>
            <a:pPr algn="l"/>
            <a:endParaRPr lang="en-IN" sz="1200" b="0" dirty="0">
              <a:solidFill>
                <a:srgbClr val="1A2224"/>
              </a:solidFill>
              <a:latin typeface="Calibri"/>
            </a:endParaRPr>
          </a:p>
          <a:p>
            <a:pPr algn="l"/>
            <a:endParaRPr lang="en-IN" sz="1200" dirty="0">
              <a:solidFill>
                <a:srgbClr val="1A2224"/>
              </a:solidFill>
              <a:latin typeface="Calibri"/>
            </a:endParaRPr>
          </a:p>
          <a:p>
            <a:pPr algn="l"/>
            <a:endParaRPr lang="en-IN" sz="1200" b="0" dirty="0">
              <a:solidFill>
                <a:srgbClr val="1A2224"/>
              </a:solidFill>
              <a:latin typeface="Calibri"/>
            </a:endParaRPr>
          </a:p>
          <a:p>
            <a:pPr algn="l"/>
            <a:endParaRPr lang="en-IN" sz="1200" dirty="0">
              <a:solidFill>
                <a:srgbClr val="1A2224"/>
              </a:solidFill>
              <a:latin typeface="Calibri"/>
            </a:endParaRPr>
          </a:p>
          <a:p>
            <a:pPr algn="l"/>
            <a:endParaRPr lang="en-IN" sz="1200" b="0" dirty="0">
              <a:solidFill>
                <a:srgbClr val="1A2224"/>
              </a:solidFill>
              <a:latin typeface="Calibri"/>
            </a:endParaRPr>
          </a:p>
          <a:p>
            <a:pPr algn="l"/>
            <a:endParaRPr lang="en-IN" sz="1200" dirty="0">
              <a:solidFill>
                <a:srgbClr val="1A2224"/>
              </a:solidFill>
              <a:latin typeface="Calibri"/>
            </a:endParaRPr>
          </a:p>
          <a:p>
            <a:pPr algn="l"/>
            <a:endParaRPr lang="en-IN" sz="1200" b="0" dirty="0">
              <a:solidFill>
                <a:srgbClr val="1A2224"/>
              </a:solidFill>
              <a:latin typeface="Calibri"/>
            </a:endParaRPr>
          </a:p>
          <a:p>
            <a:pPr algn="l"/>
            <a:endParaRPr lang="en-IN" sz="1200" dirty="0">
              <a:solidFill>
                <a:srgbClr val="1A2224"/>
              </a:solidFill>
              <a:latin typeface="Calibri"/>
            </a:endParaRPr>
          </a:p>
          <a:p>
            <a:pPr algn="l"/>
            <a:r>
              <a:rPr sz="1200" b="0" dirty="0">
                <a:solidFill>
                  <a:srgbClr val="1A2224"/>
                </a:solidFill>
                <a:latin typeface="Calibri"/>
              </a:rPr>
              <a:t>MSA v1 → 4% uplift
Amendment v2 → 6%
Amendment v3 → 8%
Amendment v4 → 10% ✓ wins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8B2F1D"/>
                </a:solidFill>
                <a:latin typeface="Calibri"/>
              </a:rPr>
              <a:t>Leakage: $30,720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744230"/>
            <a:ext cx="28760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5A6A72"/>
                </a:solidFill>
                <a:latin typeface="Calibri"/>
              </a:rPr>
              <a:t>Evidence: Amendment v4
controls. Source verified.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92608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DESIGN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4"/>
                </a:solidFill>
                <a:latin typeface="Calibri"/>
              </a:rPr>
              <a:t>AI reads. Logic calculates.
Neither alone is enough.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5303520" cy="3474720"/>
          </a:xfrm>
          <a:prstGeom prst="rect">
            <a:avLst/>
          </a:prstGeom>
          <a:solidFill>
            <a:srgbClr val="E2F0EF"/>
          </a:solidFill>
          <a:ln w="1270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605A"/>
                </a:solidFill>
                <a:latin typeface="Calibri"/>
              </a:rPr>
              <a:t>What AI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Extracts clause meaning from unstructured contract language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Resolves which document currently controls a term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Generates investigation briefs and case explanations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Handles messy language, varied formats, version drift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331720"/>
            <a:ext cx="5303520" cy="3474720"/>
          </a:xfrm>
          <a:prstGeom prst="rect">
            <a:avLst/>
          </a:prstGeom>
          <a:solidFill>
            <a:srgbClr val="F0F0F0"/>
          </a:solidFill>
          <a:ln w="12700">
            <a:solidFill>
              <a:srgbClr val="5A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A72"/>
                </a:solidFill>
                <a:latin typeface="Calibri"/>
              </a:rPr>
              <a:t>What deterministic logic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260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800" b="1">
                <a:solidFill>
                  <a:srgbClr val="5A6A72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Calculates exact dollar impact — no approximation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5A6A72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Evaluates notice windows and deadline math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5A6A72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Scores and ranks cases for the investigation queue</a:t>
            </a:r>
          </a:p>
          <a:p>
            <a:pPr>
              <a:spcBef>
                <a:spcPts val="800"/>
              </a:spcBef>
            </a:pPr>
            <a:r>
              <a:rPr sz="800" b="1">
                <a:solidFill>
                  <a:srgbClr val="5A6A72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Ensures reproducible, auditable results every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A72"/>
                </a:solidFill>
                <a:latin typeface="Calibri"/>
              </a:rPr>
              <a:t>The result: explainable findings backed by source evidence — safe to show a judge or a customer.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92608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2224"/>
                </a:solidFill>
                <a:latin typeface="Calibri"/>
              </a:rPr>
              <a:t>Same platform. More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2"/>
                </a:solidFill>
                <a:latin typeface="Calibri"/>
              </a:rPr>
              <a:t>No rebuild. The next agent reuses ingestion, extraction, and evidence resolution on day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2560320" cy="3200400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2F0EF"/>
                </a:solidFill>
                <a:latin typeface="Calibri"/>
              </a:rPr>
              <a:t>LIVE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Revenue Leakage
Investigator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Missed uplift and
renewal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3008" y="2606040"/>
            <a:ext cx="256032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A6A72"/>
                </a:solidFill>
                <a:latin typeface="Calibri"/>
              </a:rPr>
              <a:t>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A72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520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224"/>
                </a:solidFill>
                <a:latin typeface="Calibri"/>
              </a:rPr>
              <a:t>Quote-to-Contract
Drift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4343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Calibri"/>
              </a:rPr>
              <a:t>Quoted vs. signed
term comparison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37375" y="2606040"/>
            <a:ext cx="256032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74536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A6A72"/>
                </a:solidFill>
                <a:latin typeface="Calibri"/>
              </a:rP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A72"/>
                </a:solidFill>
                <a:latin typeface="Calibri"/>
              </a:rPr>
              <a:t>PLANNED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3520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224"/>
                </a:solidFill>
                <a:latin typeface="Calibri"/>
              </a:rPr>
              <a:t>Amendment Impact
Detector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343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Calibri"/>
              </a:rPr>
              <a:t>Downstream billing
change alerts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81744" y="2606040"/>
            <a:ext cx="256032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18904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A6A72"/>
                </a:solidFill>
                <a:latin typeface="Calibri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8904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A72"/>
                </a:solidFill>
                <a:latin typeface="Calibri"/>
              </a:rPr>
              <a:t>PLANNED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3520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224"/>
                </a:solidFill>
                <a:latin typeface="Calibri"/>
              </a:rPr>
              <a:t>Billing vs Contract
Mismatch Finder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4343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Calibri"/>
              </a:rPr>
              <a:t>Live billing cross-
reference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6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Commercial Execution
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F0EF"/>
                </a:solidFill>
                <a:latin typeface="Calibri"/>
              </a:rPr>
              <a:t>Turns contract truth into operational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434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6E4"/>
                </a:solidFill>
                <a:latin typeface="Calibri"/>
              </a:rPr>
              <a:t>Revenue Leakage Investigator is the first live agent —
showing how AI reconstructs commercial source of truth, detects missed execution,
and quantifies the financial impact before more revenue slips away.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C4C1"/>
                </a:solidFill>
                <a:latin typeface="Calibri"/>
              </a:rPr>
              <a:t>Conga  ·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686</Words>
  <Application>Microsoft Office PowerPoint</Application>
  <PresentationFormat>Custom</PresentationFormat>
  <Paragraphs>120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Vighneshwar Bhat</cp:lastModifiedBy>
  <cp:revision>2</cp:revision>
  <dcterms:created xsi:type="dcterms:W3CDTF">2013-01-27T09:14:16Z</dcterms:created>
  <dcterms:modified xsi:type="dcterms:W3CDTF">2026-05-26T04:31:26Z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dccfee-01fd-4312-8033-43d18efb0b7c_Enabled">
    <vt:lpwstr>true</vt:lpwstr>
  </property>
  <property fmtid="{D5CDD505-2E9C-101B-9397-08002B2CF9AE}" pid="3" name="MSIP_Label_2edccfee-01fd-4312-8033-43d18efb0b7c_SetDate">
    <vt:lpwstr>2026-05-26T04:31:24Z</vt:lpwstr>
  </property>
  <property fmtid="{D5CDD505-2E9C-101B-9397-08002B2CF9AE}" pid="4" name="MSIP_Label_2edccfee-01fd-4312-8033-43d18efb0b7c_Method">
    <vt:lpwstr>Standard</vt:lpwstr>
  </property>
  <property fmtid="{D5CDD505-2E9C-101B-9397-08002B2CF9AE}" pid="5" name="MSIP_Label_2edccfee-01fd-4312-8033-43d18efb0b7c_Name">
    <vt:lpwstr>Internal Use - General</vt:lpwstr>
  </property>
  <property fmtid="{D5CDD505-2E9C-101B-9397-08002B2CF9AE}" pid="6" name="MSIP_Label_2edccfee-01fd-4312-8033-43d18efb0b7c_SiteId">
    <vt:lpwstr>3a41ae53-fb35-4431-be7b-a0b3e1aee3c0</vt:lpwstr>
  </property>
  <property fmtid="{D5CDD505-2E9C-101B-9397-08002B2CF9AE}" pid="7" name="MSIP_Label_2edccfee-01fd-4312-8033-43d18efb0b7c_ActionId">
    <vt:lpwstr>766630aa-0b2c-409a-9071-de517daba11e</vt:lpwstr>
  </property>
  <property fmtid="{D5CDD505-2E9C-101B-9397-08002B2CF9AE}" pid="8" name="MSIP_Label_2edccfee-01fd-4312-8033-43d18efb0b7c_ContentBits">
    <vt:lpwstr>0</vt:lpwstr>
  </property>
  <property fmtid="{D5CDD505-2E9C-101B-9397-08002B2CF9AE}" pid="9" name="MSIP_Label_2edccfee-01fd-4312-8033-43d18efb0b7c_Tag">
    <vt:lpwstr>10, 3, 0, 1</vt:lpwstr>
  </property>
</Properties>
</file>