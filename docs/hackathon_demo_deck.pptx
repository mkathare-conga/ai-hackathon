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4754880" cy="6803136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463040"/>
            <a:ext cx="4023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Commercial Execution
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6576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8E6E4"/>
                </a:solidFill>
                <a:latin typeface="Calibri"/>
              </a:rPr>
              <a:t>3 Live AI Agents
Post-Signature Revenue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A6A72"/>
                </a:solidFill>
                <a:latin typeface="Calibri"/>
              </a:rPr>
              <a:t>Hackathon Demo · 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65176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224"/>
                </a:solidFill>
                <a:latin typeface="Calibri"/>
              </a:rPr>
              <a:t>AI-powered platform that detects revenue
leakage, contract drift, and amendment impact
across your post-signature commercial lifecycle.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4389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B2F1D"/>
                </a:solidFill>
                <a:latin typeface="Calibri"/>
              </a:rPr>
              <a:t>$54,720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4892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2"/>
                </a:solidFill>
                <a:latin typeface="Calibri"/>
              </a:rPr>
              <a:t>missed revenue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389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B2F1D"/>
                </a:solidFill>
                <a:latin typeface="Calibri"/>
              </a:rPr>
              <a:t>$570,360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4892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2"/>
                </a:solidFill>
                <a:latin typeface="Calibri"/>
              </a:rPr>
              <a:t>contract drift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4389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7AE60"/>
                </a:solidFill>
                <a:latin typeface="Calibri"/>
              </a:rPr>
              <a:t>+$194,400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48920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2"/>
                </a:solidFill>
                <a:latin typeface="Calibri"/>
              </a:rPr>
              <a:t>net amendment 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A6A72"/>
                </a:solidFill>
                <a:latin typeface="Calibri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2743200" cy="292608"/>
          </a:xfrm>
          <a:prstGeom prst="rect">
            <a:avLst/>
          </a:prstGeom>
          <a:solidFill>
            <a:srgbClr val="E2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16605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2224"/>
                </a:solidFill>
                <a:latin typeface="Calibri"/>
              </a:rPr>
              <a:t>The contract is signed.
Revenue execution drifts.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A72"/>
                </a:solidFill>
                <a:latin typeface="Calibri"/>
              </a:rPr>
              <a:t>Pricing rights, uplift clauses, and renewal obligations are agreed in contracts
— but rarely operationalized downstream.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500">
                <a:solidFill>
                  <a:srgbClr val="1A2224"/>
                </a:solidFill>
                <a:latin typeface="Calibri"/>
              </a:rPr>
              <a:t>Contract says 5% annual uplift — billing stays flat year after year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500">
                <a:solidFill>
                  <a:srgbClr val="1A2224"/>
                </a:solidFill>
                <a:latin typeface="Calibri"/>
              </a:rPr>
              <a:t>Sales quotes one price — contract gets signed at a different rate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500">
                <a:solidFill>
                  <a:srgbClr val="1A2224"/>
                </a:solidFill>
                <a:latin typeface="Calibri"/>
              </a:rPr>
              <a:t>Amendment changes terms — no one updates billing or provisioning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500">
                <a:solidFill>
                  <a:srgbClr val="1A2224"/>
                </a:solidFill>
                <a:latin typeface="Calibri"/>
              </a:rPr>
              <a:t>Renewal notice window passes — the revenue uplift right expires silently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500">
                <a:solidFill>
                  <a:srgbClr val="1A2224"/>
                </a:solidFill>
                <a:latin typeface="Calibri"/>
              </a:rPr>
              <a:t>No single system connects contract truth to operational reality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0" y="1097280"/>
            <a:ext cx="3200400" cy="4846320"/>
          </a:xfrm>
          <a:prstGeom prst="rect">
            <a:avLst/>
          </a:prstGeom>
          <a:solidFill>
            <a:srgbClr val="E2F0EF"/>
          </a:solidFill>
          <a:ln w="19050">
            <a:solidFill>
              <a:srgbClr val="166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32520" y="1234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605A"/>
                </a:solidFill>
                <a:latin typeface="Calibri"/>
              </a:rPr>
              <a:t>Industry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17373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B2F1D"/>
                </a:solidFill>
                <a:latin typeface="Calibri"/>
              </a:rPr>
              <a:t>9.7%
of billings contain
pricing errors*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0175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8B2F1D"/>
                </a:solidFill>
                <a:latin typeface="Calibri"/>
              </a:rPr>
              <a:t>42%
of companies have
no audit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3891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A72"/>
                </a:solidFill>
                <a:latin typeface="Calibri"/>
              </a:rPr>
              <a:t>Average detection delay:
14 months after signing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5486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A6A72"/>
                </a:solidFill>
                <a:latin typeface="Calibri"/>
              </a:rPr>
              <a:t>*MGI Research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A6A72"/>
                </a:solidFill>
                <a:latin typeface="Calibri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2743200" cy="292608"/>
          </a:xfrm>
          <a:prstGeom prst="rect">
            <a:avLst/>
          </a:prstGeom>
          <a:solidFill>
            <a:srgbClr val="E2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16605A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2224"/>
                </a:solidFill>
                <a:latin typeface="Calibri"/>
              </a:rPr>
              <a:t>One shared evidence layer.
Three agents on top.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331720"/>
            <a:ext cx="10332720" cy="777240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39572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Shared Evidence Layer  ·  Document Ingestion  ·  AI Clause Extraction  ·  Governing-Term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3200400" cy="2194560"/>
          </a:xfrm>
          <a:prstGeom prst="rect">
            <a:avLst/>
          </a:prstGeom>
          <a:solidFill>
            <a:srgbClr val="E2F0EF"/>
          </a:solidFill>
          <a:ln w="19050">
            <a:solidFill>
              <a:srgbClr val="166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33832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224"/>
                </a:solidFill>
                <a:latin typeface="Calibri"/>
              </a:rPr>
              <a:t>Revenue Leakage
Investigator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7AE60"/>
                </a:solidFill>
                <a:latin typeface="Calibri"/>
              </a:rPr>
              <a:t>●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805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A72"/>
                </a:solidFill>
                <a:latin typeface="Calibri"/>
              </a:rPr>
              <a:t>$54,720 found
3 cases, 1 at-risk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291840"/>
            <a:ext cx="3200400" cy="2194560"/>
          </a:xfrm>
          <a:prstGeom prst="rect">
            <a:avLst/>
          </a:prstGeom>
          <a:solidFill>
            <a:srgbClr val="E2F0EF"/>
          </a:solidFill>
          <a:ln w="19050">
            <a:solidFill>
              <a:srgbClr val="166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33832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224"/>
                </a:solidFill>
                <a:latin typeface="Calibri"/>
              </a:rPr>
              <a:t>Quote-to-Contract
Drift Detector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7AE60"/>
                </a:solidFill>
                <a:latin typeface="Calibri"/>
              </a:rPr>
              <a:t>●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44805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A72"/>
                </a:solidFill>
                <a:latin typeface="Calibri"/>
              </a:rPr>
              <a:t>$570,360 impact
11 findings, 6 high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3291840"/>
            <a:ext cx="3200400" cy="2194560"/>
          </a:xfrm>
          <a:prstGeom prst="rect">
            <a:avLst/>
          </a:prstGeom>
          <a:solidFill>
            <a:srgbClr val="E2F0EF"/>
          </a:solidFill>
          <a:ln w="19050">
            <a:solidFill>
              <a:srgbClr val="166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33832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224"/>
                </a:solidFill>
                <a:latin typeface="Calibri"/>
              </a:rPr>
              <a:t>Amendment Impact
Detector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7AE60"/>
                </a:solidFill>
                <a:latin typeface="Calibri"/>
              </a:rPr>
              <a:t>●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4805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A72"/>
                </a:solidFill>
                <a:latin typeface="Calibri"/>
              </a:rPr>
              <a:t>+$194,400 net
14 action items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5623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5A6A72"/>
                </a:solidFill>
                <a:latin typeface="Calibri"/>
              </a:rPr>
              <a:t>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A72"/>
                </a:solidFill>
                <a:latin typeface="Calibri"/>
              </a:rPr>
              <a:t>Contracts (PDF/DOCX)  ·  Amendments  ·  Invoices/ERP  ·  Quotes  ·  Renewal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A6A72"/>
                </a:solidFill>
                <a:latin typeface="Calibri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2743200" cy="292608"/>
          </a:xfrm>
          <a:prstGeom prst="rect">
            <a:avLst/>
          </a:prstGeom>
          <a:solidFill>
            <a:srgbClr val="E2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16605A"/>
                </a:solidFill>
                <a:latin typeface="Calibri"/>
              </a:rPr>
              <a:t>AGENT 1 —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605A"/>
                </a:solidFill>
                <a:latin typeface="Calibri"/>
              </a:rPr>
              <a:t>Revenue Leakage
Investigator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A72"/>
                </a:solidFill>
                <a:latin typeface="Calibri"/>
              </a:rPr>
              <a:t>Finds missed revenue the business was already entitled to charge.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6605A"/>
                </a:solidFill>
                <a:latin typeface="Calibri"/>
              </a:rPr>
              <a:t>WHAT IT DETECTS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5943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Missed uplift — invoice vs. contract obligation comparison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At-risk accounts — notice deadline approaching without action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Amendment precedence — resolves which doc legally controls the rate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Dollar quantification — exact per-account missed revenue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651760"/>
            <a:ext cx="3657600" cy="3291840"/>
          </a:xfrm>
          <a:prstGeom prst="rect">
            <a:avLst/>
          </a:prstGeom>
          <a:solidFill>
            <a:srgbClr val="E2F0EF"/>
          </a:solidFill>
          <a:ln w="15240">
            <a:solidFill>
              <a:srgbClr val="166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79" y="2743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6605A"/>
                </a:solidFill>
                <a:latin typeface="Calibri"/>
              </a:rPr>
              <a:t>DEMO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089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4"/>
                </a:solidFill>
                <a:latin typeface="Calibri"/>
              </a:rPr>
              <a:t>3 leakage cases
$54,720 total missed
1 at-risk prediction
$6,000 at stake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B2F1D"/>
                </a:solidFill>
                <a:latin typeface="Calibri"/>
              </a:rPr>
              <a:t>Key insight: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84632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2F1D"/>
                </a:solidFill>
                <a:latin typeface="Calibri"/>
              </a:rPr>
              <a:t>Redwood BioLabs has
12 days to send a 5%
uplift notice or lose
$6K in recurring revenue.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A6A72"/>
                </a:solidFill>
                <a:latin typeface="Calibri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2743200" cy="292608"/>
          </a:xfrm>
          <a:prstGeom prst="rect">
            <a:avLst/>
          </a:prstGeom>
          <a:solidFill>
            <a:srgbClr val="E2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16605A"/>
                </a:solidFill>
                <a:latin typeface="Calibri"/>
              </a:rPr>
              <a:t>AGENT 2 —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605A"/>
                </a:solidFill>
                <a:latin typeface="Calibri"/>
              </a:rPr>
              <a:t>Quote-to-Contract
Drift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A72"/>
                </a:solidFill>
                <a:latin typeface="Calibri"/>
              </a:rPr>
              <a:t>Compares what was quoted vs. what was signed — catches negotiation drift.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6605A"/>
                </a:solidFill>
                <a:latin typeface="Calibri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5943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AI extracts contract facts from uploaded documents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Line-by-line comparison: price, quantity, term, SLA per quote line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Scope drift detection: items quoted but missing from contract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Impact scoring with severity classification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651760"/>
            <a:ext cx="3657600" cy="3291840"/>
          </a:xfrm>
          <a:prstGeom prst="rect">
            <a:avLst/>
          </a:prstGeom>
          <a:solidFill>
            <a:srgbClr val="E2F0EF"/>
          </a:solidFill>
          <a:ln w="15240">
            <a:solidFill>
              <a:srgbClr val="166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79" y="2743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6605A"/>
                </a:solidFill>
                <a:latin typeface="Calibri"/>
              </a:rPr>
              <a:t>DEMO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089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4"/>
                </a:solidFill>
                <a:latin typeface="Calibri"/>
              </a:rPr>
              <a:t>3 quotes analyzed
11 drift findings
6 high severity
$570,360 total 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A6A72"/>
                </a:solidFill>
                <a:latin typeface="Calibri"/>
              </a:rPr>
              <a:t>Accounts: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84632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24"/>
                </a:solidFill>
                <a:latin typeface="Calibri"/>
              </a:rPr>
              <a:t>TechVault: $155K
Meridian: $249K
Atlas: $165K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A6A72"/>
                </a:solidFill>
                <a:latin typeface="Calibri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2743200" cy="292608"/>
          </a:xfrm>
          <a:prstGeom prst="rect">
            <a:avLst/>
          </a:prstGeom>
          <a:solidFill>
            <a:srgbClr val="E2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16605A"/>
                </a:solidFill>
                <a:latin typeface="Calibri"/>
              </a:rPr>
              <a:t>AGENT 3 —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605A"/>
                </a:solidFill>
                <a:latin typeface="Calibri"/>
              </a:rPr>
              <a:t>Amendment Impact
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A72"/>
                </a:solidFill>
                <a:latin typeface="Calibri"/>
              </a:rPr>
              <a:t>Identifies downstream operational changes triggered by contract amendments.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6605A"/>
                </a:solidFill>
                <a:latin typeface="Calibri"/>
              </a:rPr>
              <a:t>WHAT IT PRODUCES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5943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Impact analysis: what changed, before vs. after, severity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Revenue delta: quantifies annual revenue gain/loss per change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Action items: billing updates, workflow changes, provisioning needed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Team routing: auto-assigns to RevOps, Engineering, Legal, CS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2651760"/>
            <a:ext cx="3657600" cy="3474720"/>
          </a:xfrm>
          <a:prstGeom prst="rect">
            <a:avLst/>
          </a:prstGeom>
          <a:solidFill>
            <a:srgbClr val="E2F0EF"/>
          </a:solidFill>
          <a:ln w="15240">
            <a:solidFill>
              <a:srgbClr val="166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79" y="2743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6605A"/>
                </a:solidFill>
                <a:latin typeface="Calibri"/>
              </a:rPr>
              <a:t>DEMO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089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4"/>
                </a:solidFill>
                <a:latin typeface="Calibri"/>
              </a:rPr>
              <a:t>3 amendments analyzed
11 impacts detected
14 open action items
+$194,400 net delta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6634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24"/>
                </a:solidFill>
                <a:latin typeface="Calibri"/>
              </a:rPr>
              <a:t>GlobalTech: +$86K ▲
Cascade:    –$72K ▼
Vertex:     +$180K 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56692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2"/>
                </a:solidFill>
                <a:latin typeface="Calibri"/>
              </a:rPr>
              <a:t>2 positive, 1 negative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A6A72"/>
                </a:solidFill>
                <a:latin typeface="Calibri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2743200" cy="292608"/>
          </a:xfrm>
          <a:prstGeom prst="rect">
            <a:avLst/>
          </a:prstGeom>
          <a:solidFill>
            <a:srgbClr val="E2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16605A"/>
                </a:solidFill>
                <a:latin typeface="Calibri"/>
              </a:rPr>
              <a:t>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2224"/>
                </a:solidFill>
                <a:latin typeface="Calibri"/>
              </a:rPr>
              <a:t>AI reads. Logic calculates.
Neither alone is enough.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31720"/>
            <a:ext cx="5303520" cy="3200400"/>
          </a:xfrm>
          <a:prstGeom prst="rect">
            <a:avLst/>
          </a:prstGeom>
          <a:solidFill>
            <a:srgbClr val="E2F0EF"/>
          </a:solidFill>
          <a:ln w="12700">
            <a:solidFill>
              <a:srgbClr val="166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605A"/>
                </a:solidFill>
                <a:latin typeface="Calibri"/>
              </a:rPr>
              <a:t>What AI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Extracts clauses from unstructured contract language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Resolves which document controls a given term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Generates investigation briefs and explanations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Handles varied formats, messy language, version drift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331720"/>
            <a:ext cx="5303520" cy="3200400"/>
          </a:xfrm>
          <a:prstGeom prst="rect">
            <a:avLst/>
          </a:prstGeom>
          <a:solidFill>
            <a:srgbClr val="F0F0F0"/>
          </a:solidFill>
          <a:ln w="12700">
            <a:solidFill>
              <a:srgbClr val="5A6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2468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A72"/>
                </a:solidFill>
                <a:latin typeface="Calibri"/>
              </a:rPr>
              <a:t>What deterministic logic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92608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800" b="1">
                <a:solidFill>
                  <a:srgbClr val="5A6A72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Calculates exact dollar impact — no hallucination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5A6A72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Evaluates notice windows and deadline math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5A6A72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Line-by-line comparison with severity scoring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5A6A72"/>
                </a:solidFill>
                <a:latin typeface="Calibri"/>
              </a:rPr>
              <a:t>● </a:t>
            </a:r>
            <a:r>
              <a:rPr sz="1400">
                <a:solidFill>
                  <a:srgbClr val="1A2224"/>
                </a:solidFill>
                <a:latin typeface="Calibri"/>
              </a:rPr>
              <a:t>Reproducible, auditable results every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A72"/>
                </a:solidFill>
                <a:latin typeface="Calibri"/>
              </a:rPr>
              <a:t>The result: explainable findings backed by source evidence — safe to show a judge, a VP, or a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A6A72"/>
                </a:solidFill>
                <a:latin typeface="Calibri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2743200" cy="292608"/>
          </a:xfrm>
          <a:prstGeom prst="rect">
            <a:avLst/>
          </a:prstGeom>
          <a:solidFill>
            <a:srgbClr val="E2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16605A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224"/>
                </a:solidFill>
                <a:latin typeface="Calibri"/>
              </a:rPr>
              <a:t>Built for speed. Ready to extend.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2560320" cy="548640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0195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4"/>
                </a:solidFill>
                <a:latin typeface="Calibri"/>
              </a:rPr>
              <a:t>React + Vite → nginx (port 8081)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87168"/>
            <a:ext cx="2560320" cy="548640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Backend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5603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4"/>
                </a:solidFill>
                <a:latin typeface="Calibri"/>
              </a:rPr>
              <a:t>Python FastAPI (port 8001)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45536"/>
            <a:ext cx="2560320" cy="548640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186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AI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1868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4"/>
                </a:solidFill>
                <a:latin typeface="Calibri"/>
              </a:rPr>
              <a:t>GitHub Models / Azure OpenAI (GPT-4o)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03904"/>
            <a:ext cx="2560320" cy="548640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877056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87705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4"/>
                </a:solidFill>
                <a:latin typeface="Calibri"/>
              </a:rPr>
              <a:t>PostgreSQL 16 (port 5433)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62272"/>
            <a:ext cx="2560320" cy="548640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53542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Object 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535424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4"/>
                </a:solidFill>
                <a:latin typeface="Calibri"/>
              </a:rPr>
              <a:t>MinIO — contract document storage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120640"/>
            <a:ext cx="2560320" cy="548640"/>
          </a:xfrm>
          <a:prstGeom prst="rect">
            <a:avLst/>
          </a:prstGeom>
          <a:solidFill>
            <a:srgbClr val="166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19379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Deployment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19379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4"/>
                </a:solidFill>
                <a:latin typeface="Calibri"/>
              </a:rPr>
              <a:t>Docker Compose — single 'make up' command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657600" cy="3931920"/>
          </a:xfrm>
          <a:prstGeom prst="rect">
            <a:avLst/>
          </a:prstGeom>
          <a:solidFill>
            <a:srgbClr val="E2F0EF"/>
          </a:solidFill>
          <a:ln w="12700">
            <a:solidFill>
              <a:srgbClr val="166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83879" y="19202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6605A"/>
                </a:solidFill>
                <a:latin typeface="Calibri"/>
              </a:rPr>
              <a:t>BY THE NUMBERS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286000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200">
                <a:solidFill>
                  <a:srgbClr val="1A2224"/>
                </a:solidFill>
                <a:latin typeface="Calibri"/>
              </a:rPr>
              <a:t>3 live agents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200">
                <a:solidFill>
                  <a:srgbClr val="1A2224"/>
                </a:solidFill>
                <a:latin typeface="Calibri"/>
              </a:rPr>
              <a:t>8 API endpoint groups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200">
                <a:solidFill>
                  <a:srgbClr val="1A2224"/>
                </a:solidFill>
                <a:latin typeface="Calibri"/>
              </a:rPr>
              <a:t>6 database tables (new)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200">
                <a:solidFill>
                  <a:srgbClr val="1A2224"/>
                </a:solidFill>
                <a:latin typeface="Calibri"/>
              </a:rPr>
              <a:t>AI + deterministic fallback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200">
                <a:solidFill>
                  <a:srgbClr val="1A2224"/>
                </a:solidFill>
                <a:latin typeface="Calibri"/>
              </a:rPr>
              <a:t>Full CRUD + analysis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200">
                <a:solidFill>
                  <a:srgbClr val="1A2224"/>
                </a:solidFill>
                <a:latin typeface="Calibri"/>
              </a:rPr>
              <a:t>&lt; 2s response time</a:t>
            </a:r>
          </a:p>
          <a:p>
            <a:pPr>
              <a:spcBef>
                <a:spcPts val="600"/>
              </a:spcBef>
            </a:pPr>
            <a:r>
              <a:rPr sz="800" b="1">
                <a:solidFill>
                  <a:srgbClr val="16605A"/>
                </a:solidFill>
                <a:latin typeface="Calibri"/>
              </a:rPr>
              <a:t>● </a:t>
            </a:r>
            <a:r>
              <a:rPr sz="1200">
                <a:solidFill>
                  <a:srgbClr val="1A2224"/>
                </a:solidFill>
                <a:latin typeface="Calibri"/>
              </a:rPr>
              <a:t>One-command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A6A72"/>
                </a:solidFill>
                <a:latin typeface="Calibri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60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972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Calibri"/>
              </a:rPr>
              <a:t>Commercial Execution
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E2F0EF"/>
                </a:solidFill>
                <a:latin typeface="Calibri"/>
              </a:rPr>
              <a:t>Turns contract truth into operational action.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931920"/>
            <a:ext cx="2743200" cy="1463040"/>
          </a:xfrm>
          <a:prstGeom prst="rect">
            <a:avLst/>
          </a:prstGeom>
          <a:solidFill>
            <a:srgbClr val="1E7A72"/>
          </a:solidFill>
          <a:ln w="12700">
            <a:solidFill>
              <a:srgbClr val="E2F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920240" y="4023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$54,720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4663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8E6E4"/>
                </a:solidFill>
                <a:latin typeface="Calibri"/>
              </a:rPr>
              <a:t>missed revenue
detected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3931920"/>
            <a:ext cx="2743200" cy="1463040"/>
          </a:xfrm>
          <a:prstGeom prst="rect">
            <a:avLst/>
          </a:prstGeom>
          <a:solidFill>
            <a:srgbClr val="1E7A72"/>
          </a:solidFill>
          <a:ln w="12700">
            <a:solidFill>
              <a:srgbClr val="E2F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20640" y="4023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$570,360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4663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8E6E4"/>
                </a:solidFill>
                <a:latin typeface="Calibri"/>
              </a:rPr>
              <a:t>contract drift
identified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931920"/>
            <a:ext cx="2743200" cy="1463040"/>
          </a:xfrm>
          <a:prstGeom prst="rect">
            <a:avLst/>
          </a:prstGeom>
          <a:solidFill>
            <a:srgbClr val="1E7A72"/>
          </a:solidFill>
          <a:ln w="12700">
            <a:solidFill>
              <a:srgbClr val="E2F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40233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+$194,400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663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8E6E4"/>
                </a:solidFill>
                <a:latin typeface="Calibri"/>
              </a:rPr>
              <a:t>amendment impact
quantified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3327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A0D0CC"/>
                </a:solidFill>
                <a:latin typeface="Calibri"/>
              </a:rPr>
              <a:t>3 live agents  ·  Shared evidence layer  ·  AI + deterministic hybrid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Thank you  ·  Questions?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A6A72"/>
                </a:solidFill>
                <a:latin typeface="Calibri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841</Words>
  <Application>Microsoft Office PowerPoint</Application>
  <PresentationFormat>Custom</PresentationFormat>
  <Paragraphs>127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Vighneshwar Bhat</cp:lastModifiedBy>
  <cp:revision>2</cp:revision>
  <dcterms:created xsi:type="dcterms:W3CDTF">2013-01-27T09:14:16Z</dcterms:created>
  <dcterms:modified xsi:type="dcterms:W3CDTF">2026-06-03T16:11:43Z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dccfee-01fd-4312-8033-43d18efb0b7c_Enabled">
    <vt:lpwstr>true</vt:lpwstr>
  </property>
  <property fmtid="{D5CDD505-2E9C-101B-9397-08002B2CF9AE}" pid="3" name="MSIP_Label_2edccfee-01fd-4312-8033-43d18efb0b7c_SetDate">
    <vt:lpwstr>2026-06-03T09:01:55Z</vt:lpwstr>
  </property>
  <property fmtid="{D5CDD505-2E9C-101B-9397-08002B2CF9AE}" pid="4" name="MSIP_Label_2edccfee-01fd-4312-8033-43d18efb0b7c_Method">
    <vt:lpwstr>Standard</vt:lpwstr>
  </property>
  <property fmtid="{D5CDD505-2E9C-101B-9397-08002B2CF9AE}" pid="5" name="MSIP_Label_2edccfee-01fd-4312-8033-43d18efb0b7c_Name">
    <vt:lpwstr>Internal Use - General</vt:lpwstr>
  </property>
  <property fmtid="{D5CDD505-2E9C-101B-9397-08002B2CF9AE}" pid="6" name="MSIP_Label_2edccfee-01fd-4312-8033-43d18efb0b7c_SiteId">
    <vt:lpwstr>3a41ae53-fb35-4431-be7b-a0b3e1aee3c0</vt:lpwstr>
  </property>
  <property fmtid="{D5CDD505-2E9C-101B-9397-08002B2CF9AE}" pid="7" name="MSIP_Label_2edccfee-01fd-4312-8033-43d18efb0b7c_ActionId">
    <vt:lpwstr>b0ec1e24-cb4b-4641-9b7d-fd38780d34cc</vt:lpwstr>
  </property>
  <property fmtid="{D5CDD505-2E9C-101B-9397-08002B2CF9AE}" pid="8" name="MSIP_Label_2edccfee-01fd-4312-8033-43d18efb0b7c_ContentBits">
    <vt:lpwstr>0</vt:lpwstr>
  </property>
  <property fmtid="{D5CDD505-2E9C-101B-9397-08002B2CF9AE}" pid="9" name="MSIP_Label_2edccfee-01fd-4312-8033-43d18efb0b7c_Tag">
    <vt:lpwstr>10, 3, 0, 1</vt:lpwstr>
  </property>
</Properties>
</file>