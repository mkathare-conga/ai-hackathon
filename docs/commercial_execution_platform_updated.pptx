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4617720" cy="6803136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11480" y="123444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Commercial Execution
Intelligence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246120"/>
            <a:ext cx="379476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  <a:latin typeface="Calibri"/>
              </a:rPr>
              <a:t>Current product deck
5 live workspaces across pricing and post-sign execution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60807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Calibri"/>
              </a:rPr>
              <a:t>June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74920" y="1234440"/>
            <a:ext cx="6400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F1B16"/>
                </a:solidFill>
                <a:latin typeface="Calibri"/>
              </a:rPr>
              <a:t>AI-assisted commercial execution platform with a shared evidence layer and current live seeded metrics.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74920" y="2240280"/>
            <a:ext cx="288036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202936" y="2331720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2F1D"/>
                </a:solidFill>
                <a:latin typeface="Calibri"/>
              </a:rPr>
              <a:t>$54,720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02936" y="2770632"/>
            <a:ext cx="2624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Missed revenue found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02936" y="2990088"/>
            <a:ext cx="2624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6256"/>
                </a:solidFill>
                <a:latin typeface="Calibri"/>
              </a:rPr>
              <a:t>3 leakage cases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83879" y="2240280"/>
            <a:ext cx="288036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11896" y="2331720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2F1D"/>
                </a:solidFill>
                <a:latin typeface="Calibri"/>
              </a:rPr>
              <a:t>$1.17M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1896" y="2770632"/>
            <a:ext cx="2624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Quote-to-contract drift impact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11896" y="2990088"/>
            <a:ext cx="2624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6256"/>
                </a:solidFill>
                <a:latin typeface="Calibri"/>
              </a:rPr>
              <a:t>9 findings across 3 quotes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74920" y="3611880"/>
            <a:ext cx="288036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202936" y="3703320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  <a:latin typeface="Calibri"/>
              </a:rPr>
              <a:t>+$194.4K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4142232"/>
            <a:ext cx="2624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Net amendment delta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02936" y="4361688"/>
            <a:ext cx="2624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6256"/>
                </a:solidFill>
                <a:latin typeface="Calibri"/>
              </a:rPr>
              <a:t>11 impacts and 14 open actions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9" y="3611880"/>
            <a:ext cx="288036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311896" y="3703320"/>
            <a:ext cx="2624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  <a:latin typeface="Calibri"/>
              </a:rPr>
              <a:t>+$117.2K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11896" y="4142232"/>
            <a:ext cx="2624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Pre-sign ACV upside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1896" y="4361688"/>
            <a:ext cx="2624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6256"/>
                </a:solidFill>
                <a:latin typeface="Calibri"/>
              </a:rPr>
              <a:t>7 uplift opportunities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74920" y="5074920"/>
            <a:ext cx="5989320" cy="100584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257800" y="5257800"/>
            <a:ext cx="5623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1B16"/>
                </a:solidFill>
                <a:latin typeface="Calibri"/>
              </a:rPr>
              <a:t>Unified revenue integrity queue: 7 active items across leakage, renewal risk, and billing audit.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5650992"/>
            <a:ext cx="56235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256"/>
                </a:solidFill>
                <a:latin typeface="Calibri"/>
              </a:rPr>
              <a:t>Current demo mode: Rule-based fallback. The same workflows can call AI services when enabled.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6256"/>
                </a:solidFill>
                <a:latin typeface="Calibri"/>
              </a:rP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2834640" cy="310896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8046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Calibri"/>
              </a:rPr>
              <a:t>Revenue gets lost before and after signature.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72768"/>
            <a:ext cx="741578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dirty="0">
                <a:solidFill>
                  <a:srgbClr val="1F1B16"/>
                </a:solidFill>
                <a:latin typeface="Calibri"/>
              </a:rPr>
              <a:t>Pricing, contract truth, amendments, billing, and renewal actions drift unless one system keeps the evidence chain intact.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63140"/>
            <a:ext cx="6949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 dirty="0">
                <a:solidFill>
                  <a:srgbClr val="16605A"/>
                </a:solidFill>
                <a:latin typeface="Calibri"/>
              </a:rPr>
              <a:t>- </a:t>
            </a:r>
            <a:r>
              <a:rPr sz="1400" dirty="0">
                <a:solidFill>
                  <a:srgbClr val="1F1B16"/>
                </a:solidFill>
                <a:latin typeface="Calibri"/>
              </a:rPr>
              <a:t>Final price is often set without same-company evidence, leaving ACV on the table.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16605A"/>
                </a:solidFill>
                <a:latin typeface="Calibri"/>
              </a:rPr>
              <a:t>- </a:t>
            </a:r>
            <a:r>
              <a:rPr sz="1400" dirty="0">
                <a:solidFill>
                  <a:srgbClr val="1F1B16"/>
                </a:solidFill>
                <a:latin typeface="Calibri"/>
              </a:rPr>
              <a:t>Quoted scope and renewal protections change before signature without a clean comparison loop.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16605A"/>
                </a:solidFill>
                <a:latin typeface="Calibri"/>
              </a:rPr>
              <a:t>- </a:t>
            </a:r>
            <a:r>
              <a:rPr sz="1400" dirty="0">
                <a:solidFill>
                  <a:srgbClr val="1F1B16"/>
                </a:solidFill>
                <a:latin typeface="Calibri"/>
              </a:rPr>
              <a:t>Amendments change commercial terms, but downstream systems keep old assumptions.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16605A"/>
                </a:solidFill>
                <a:latin typeface="Calibri"/>
              </a:rPr>
              <a:t>- </a:t>
            </a:r>
            <a:r>
              <a:rPr sz="1400" dirty="0">
                <a:solidFill>
                  <a:srgbClr val="1F1B16"/>
                </a:solidFill>
                <a:latin typeface="Calibri"/>
              </a:rPr>
              <a:t>Billing rate cards lag controlling contract economics even when the contract is clear.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16605A"/>
                </a:solidFill>
                <a:latin typeface="Calibri"/>
              </a:rPr>
              <a:t>- </a:t>
            </a:r>
            <a:r>
              <a:rPr sz="1400" dirty="0">
                <a:solidFill>
                  <a:srgbClr val="1F1B16"/>
                </a:solidFill>
                <a:latin typeface="Calibri"/>
              </a:rPr>
              <a:t>Renewal notice windows pass and recurring revenue rights expire silently.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600200"/>
            <a:ext cx="3657600" cy="4526280"/>
          </a:xfrm>
          <a:prstGeom prst="rect">
            <a:avLst/>
          </a:prstGeom>
          <a:solidFill>
            <a:srgbClr val="E2F0EF"/>
          </a:solidFill>
          <a:ln w="1778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229600" y="178308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605A"/>
                </a:solidFill>
                <a:latin typeface="Calibri"/>
              </a:rPr>
              <a:t>Current proof in the demo data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0" y="2148840"/>
            <a:ext cx="15544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357616" y="2240280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1B16"/>
                </a:solidFill>
                <a:latin typeface="Calibri"/>
              </a:rPr>
              <a:t>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7616" y="267919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Active revenue integrity items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12680" y="2148840"/>
            <a:ext cx="15544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140696" y="2240280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2F1D"/>
                </a:solidFill>
                <a:latin typeface="Calibri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0696" y="267919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Drift findings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3429000"/>
            <a:ext cx="15544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57616" y="3520440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2671F"/>
                </a:solidFill>
                <a:latin typeface="Calibri"/>
              </a:rPr>
              <a:t>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7616" y="395935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Amendment impacts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12680" y="3429000"/>
            <a:ext cx="15544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140696" y="3520440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  <a:latin typeface="Calibri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0696" y="395935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Pricing lift opportunities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754880"/>
            <a:ext cx="3246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B16"/>
                </a:solidFill>
                <a:latin typeface="Calibri"/>
              </a:rPr>
              <a:t>The same evidence layer has to support pre-sign pricing decisions, post-sign drift review, amendment routing, billing audit, and renewal protection.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6256"/>
                </a:solidFill>
                <a:latin typeface="Calibri"/>
              </a:rP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2834640" cy="310896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PLATFORM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F1B16"/>
                </a:solidFill>
                <a:latin typeface="Calibri"/>
              </a:rPr>
              <a:t>One evidence layer, five live workspaces.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011680"/>
            <a:ext cx="10332720" cy="713232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244852"/>
            <a:ext cx="10149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dirty="0">
                <a:solidFill>
                  <a:srgbClr val="FFFFFF"/>
                </a:solidFill>
                <a:latin typeface="Calibri"/>
              </a:rPr>
              <a:t>Shared evidence layer | contracts | amendments | invoices | quotes | renewal events | same-company deal history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3063240"/>
            <a:ext cx="2148840" cy="1463040"/>
          </a:xfrm>
          <a:prstGeom prst="rect">
            <a:avLst/>
          </a:prstGeom>
          <a:solidFill>
            <a:srgbClr val="E2F0EF"/>
          </a:solidFill>
          <a:ln w="1651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17296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1B16"/>
                </a:solidFill>
                <a:latin typeface="Calibri"/>
              </a:rPr>
              <a:t>Revenue Integrity
Workspace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7647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  <a:latin typeface="Calibri"/>
              </a:rPr>
              <a:t>LIVE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959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A6256"/>
                </a:solidFill>
                <a:latin typeface="Calibri"/>
              </a:rPr>
              <a:t>$54,720 missed | $6,000 risk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54680" y="3063240"/>
            <a:ext cx="2148840" cy="1463040"/>
          </a:xfrm>
          <a:prstGeom prst="rect">
            <a:avLst/>
          </a:prstGeom>
          <a:solidFill>
            <a:srgbClr val="E2F0EF"/>
          </a:solidFill>
          <a:ln w="1651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46120" y="317296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1B16"/>
                </a:solidFill>
                <a:latin typeface="Calibri"/>
              </a:rPr>
              <a:t>Quote-to-Contract
Drift Detector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377647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  <a:latin typeface="Calibri"/>
              </a:rPr>
              <a:t>LIVE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39959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A6256"/>
                </a:solidFill>
                <a:latin typeface="Calibri"/>
              </a:rPr>
              <a:t>$1.17M | 9 findings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3063240"/>
            <a:ext cx="2148840" cy="1463040"/>
          </a:xfrm>
          <a:prstGeom prst="rect">
            <a:avLst/>
          </a:prstGeom>
          <a:solidFill>
            <a:srgbClr val="E2F0EF"/>
          </a:solidFill>
          <a:ln w="1651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77840" y="317296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1B16"/>
                </a:solidFill>
                <a:latin typeface="Calibri"/>
              </a:rPr>
              <a:t>Amendment Impact
Detector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377647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  <a:latin typeface="Calibri"/>
              </a:rPr>
              <a:t>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577840" y="39959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A6256"/>
                </a:solidFill>
                <a:latin typeface="Calibri"/>
              </a:rPr>
              <a:t>+$194.4K | 14 actions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818120" y="3063240"/>
            <a:ext cx="2148840" cy="1463040"/>
          </a:xfrm>
          <a:prstGeom prst="rect">
            <a:avLst/>
          </a:prstGeom>
          <a:solidFill>
            <a:srgbClr val="E2F0EF"/>
          </a:solidFill>
          <a:ln w="1651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909560" y="3172968"/>
            <a:ext cx="19659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1B16"/>
                </a:solidFill>
                <a:latin typeface="Calibri"/>
              </a:rPr>
              <a:t>Billing vs Contract
Mismatch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09560" y="3776472"/>
            <a:ext cx="19659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  <a:latin typeface="Calibri"/>
              </a:rPr>
              <a:t>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60" y="3995928"/>
            <a:ext cx="19659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A6256"/>
                </a:solidFill>
                <a:latin typeface="Calibri"/>
              </a:rPr>
              <a:t>$54,720 underbilled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3063240"/>
            <a:ext cx="1188720" cy="1463040"/>
          </a:xfrm>
          <a:prstGeom prst="rect">
            <a:avLst/>
          </a:prstGeom>
          <a:solidFill>
            <a:srgbClr val="E2F0EF"/>
          </a:solidFill>
          <a:ln w="1651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10241280" y="3172968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1B16"/>
                </a:solidFill>
                <a:latin typeface="Calibri"/>
              </a:rPr>
              <a:t>Pricing
Advisor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241280" y="3776472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27AE60"/>
                </a:solidFill>
                <a:latin typeface="Calibri"/>
              </a:rPr>
              <a:t>LIVE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241280" y="3995928"/>
            <a:ext cx="1005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A6256"/>
                </a:solidFill>
                <a:latin typeface="Calibri"/>
              </a:rPr>
              <a:t>+$117.2K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4983480"/>
            <a:ext cx="10332720" cy="86868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97280" y="5230368"/>
            <a:ext cx="9966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B16"/>
                </a:solidFill>
                <a:latin typeface="Calibri"/>
              </a:rPr>
              <a:t>Current operating mode: Rule-based fallback. Extraction and explanation fall back deterministically in this environment while the same product surface remains AI-ready.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6256"/>
                </a:solidFill>
                <a:latin typeface="Calibri"/>
              </a:rP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3291840" cy="310896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UNIFIED REVENUE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9692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F1B16"/>
                </a:solidFill>
                <a:latin typeface="Calibri"/>
              </a:rPr>
              <a:t>One operator view for leakage, renewal risk, billing, and account coverage.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65836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Unified queue combines leakage cases, renewal risk, and flagged billing audits.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All Accounts coverage keeps low-signal accounts visible instead of disappearing from the workflow.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Classic leakage and billing pages still exist for deep investigation when needed.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Document uploads, evidence review, and source-of-record detail stay in the same workspace.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80960" y="1783080"/>
            <a:ext cx="173736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08976" y="1874519"/>
            <a:ext cx="1481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2F1D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08976" y="23134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Leakage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08976" y="2532888"/>
            <a:ext cx="1481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6256"/>
                </a:solidFill>
                <a:latin typeface="Calibri"/>
              </a:rPr>
              <a:t>$54,720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9555480" y="1783080"/>
            <a:ext cx="173736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83496" y="1874519"/>
            <a:ext cx="1481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2671F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83496" y="231343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Renewal risks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83496" y="2532888"/>
            <a:ext cx="1481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6256"/>
                </a:solidFill>
                <a:latin typeface="Calibri"/>
              </a:rPr>
              <a:t>$6,000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80960" y="3063240"/>
            <a:ext cx="173736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808976" y="3154680"/>
            <a:ext cx="1481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6605A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359359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Billing audits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6" y="3813048"/>
            <a:ext cx="1481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6256"/>
                </a:solidFill>
                <a:latin typeface="Calibri"/>
              </a:rPr>
              <a:t>$54,720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555480" y="3063240"/>
            <a:ext cx="173736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683496" y="3154680"/>
            <a:ext cx="1481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1B16"/>
                </a:solidFill>
                <a:latin typeface="Calibri"/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83496" y="3593592"/>
            <a:ext cx="148132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Accounts covered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83496" y="3813048"/>
            <a:ext cx="14813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A6256"/>
                </a:solidFill>
                <a:latin typeface="Calibri"/>
              </a:rPr>
              <a:t>All accounts queue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892040"/>
            <a:ext cx="11064240" cy="96012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148072"/>
            <a:ext cx="106070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B16"/>
                </a:solidFill>
                <a:latin typeface="Calibri"/>
              </a:rPr>
              <a:t>Live examples: Summit Distribution Group shows $30,720 in missed uplift. Redwood BioLabs has 11 days left before $6,000 is at risk.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6256"/>
                </a:solidFill>
                <a:latin typeface="Calibri"/>
              </a:rP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2834640" cy="310896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AGENT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16605A"/>
                </a:solidFill>
                <a:latin typeface="Calibri"/>
              </a:rPr>
              <a:t>Revenue Leakage Investigator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8138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A6256"/>
                </a:solidFill>
                <a:latin typeface="Calibri"/>
              </a:rPr>
              <a:t>Missed revenue and preventive renewal risk are already quantified from the contract dossier.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48840"/>
            <a:ext cx="612648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Resolves the controlling commercial term across PDFs and DOCX files.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Quantifies missed uplift and near-term renewal risk with deterministic math.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Explains which document controls and what action operations should take next.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Supports retrospective leakage detection and preventive intervention.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7452360" y="1920240"/>
            <a:ext cx="4023360" cy="4114800"/>
          </a:xfrm>
          <a:prstGeom prst="rect">
            <a:avLst/>
          </a:prstGeom>
          <a:solidFill>
            <a:srgbClr val="E2F0EF"/>
          </a:solidFill>
          <a:ln w="1778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635240" y="2084831"/>
            <a:ext cx="3657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6605A"/>
                </a:solidFill>
                <a:latin typeface="Calibri"/>
              </a:rPr>
              <a:t>Current live proof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35240" y="246888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B2F1D"/>
                </a:solidFill>
                <a:latin typeface="Calibri"/>
              </a:rPr>
              <a:t>$54,720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256"/>
                </a:solidFill>
                <a:latin typeface="Calibri"/>
              </a:rPr>
              <a:t>missed revenue across 3 cases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30632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2671F"/>
                </a:solidFill>
                <a:latin typeface="Calibri"/>
              </a:rPr>
              <a:t>$6,000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0" y="3136392"/>
            <a:ext cx="20116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A6256"/>
                </a:solidFill>
                <a:latin typeface="Calibri"/>
              </a:rPr>
              <a:t>at risk across 1 preventive case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35240" y="3703320"/>
            <a:ext cx="3566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1F1B16"/>
                </a:solidFill>
                <a:latin typeface="Calibri"/>
              </a:rPr>
              <a:t>Top case: Summit Distribution Group
$30,720 missed because an 8% uplift never hit billing.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35240" y="470916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Other open cases: Northwind Manufacturing $18,000 and Pinnacle Logistics $6,000.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5240" y="530352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B2F1D"/>
                </a:solidFill>
                <a:latin typeface="Calibri"/>
              </a:rPr>
              <a:t>Preventive example: Redwood BioLabs must send the uplift notice within 11 days.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6256"/>
                </a:solidFill>
                <a:latin typeface="Calibri"/>
              </a:rP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2834640" cy="310896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AGENT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6605A"/>
                </a:solidFill>
                <a:latin typeface="Calibri"/>
              </a:rPr>
              <a:t>Quote-to-Contract Drift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8503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A6256"/>
                </a:solidFill>
                <a:latin typeface="Calibri"/>
              </a:rPr>
              <a:t>Signed terms are compared to approved quotes before pricing concessions quietly become permanent.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103120"/>
            <a:ext cx="22402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2194560"/>
            <a:ext cx="1984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1B16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63347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Quotes analyzed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2103120"/>
            <a:ext cx="22402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099816" y="2194560"/>
            <a:ext cx="1984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2671F"/>
                </a:solidFill>
                <a:latin typeface="Calibri"/>
              </a:rPr>
              <a:t>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9816" y="263347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Drift findings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394960" y="2103120"/>
            <a:ext cx="22402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522976" y="2194560"/>
            <a:ext cx="1984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2F1D"/>
                </a:solidFill>
                <a:latin typeface="Calibri"/>
              </a:rP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22976" y="263347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High severity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818120" y="2103120"/>
            <a:ext cx="274320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946136" y="2194560"/>
            <a:ext cx="24871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2F1D"/>
                </a:solidFill>
                <a:latin typeface="Calibri"/>
              </a:rPr>
              <a:t>$1.17M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46136" y="2633472"/>
            <a:ext cx="2487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Estimated annual impact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3657600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TechVault Solutions: $925.9K annual exposure from scope and renewal drift.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Atlas Manufacturing: $165.6K impact from renewal caps and support downgrades.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Meridian Healthcare: $75.8K impact from seat-count reduction.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Findings cover scope, quantity, support tier, and renewal term changes.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6256"/>
                </a:solidFill>
                <a:latin typeface="Calibri"/>
              </a:rP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2834640" cy="310896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AGENT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6949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6605A"/>
                </a:solidFill>
                <a:latin typeface="Calibri"/>
              </a:rPr>
              <a:t>Amendment Impact Detector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9784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6A6256"/>
                </a:solidFill>
                <a:latin typeface="Calibri"/>
              </a:rPr>
              <a:t>Amendments trigger operational action only when before/after changes are translated into billing, provisioning, and workflow updates.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057400"/>
            <a:ext cx="20116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" y="2148840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1B16"/>
                </a:solidFill>
                <a:latin typeface="Calibri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" y="2587752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Amendments analyzed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2057400"/>
            <a:ext cx="20116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25496" y="2148840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B2671F"/>
                </a:solidFill>
                <a:latin typeface="Calibri"/>
              </a:rPr>
              <a:t>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2587752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Detected impacts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46320" y="2057400"/>
            <a:ext cx="20116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974336" y="2148840"/>
            <a:ext cx="17556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8B2F1D"/>
                </a:solidFill>
                <a:latin typeface="Calibri"/>
              </a:rPr>
              <a:t>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4336" y="2587752"/>
            <a:ext cx="17556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Open 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95160" y="2057400"/>
            <a:ext cx="251460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23176" y="2148840"/>
            <a:ext cx="225856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7AE60"/>
                </a:solidFill>
                <a:latin typeface="Calibri"/>
              </a:rPr>
              <a:t>+$194.4K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23176" y="2587752"/>
            <a:ext cx="22585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Net annual delta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692640" y="2057400"/>
            <a:ext cx="1554480" cy="105156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20656" y="2148840"/>
            <a:ext cx="1298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1F1B16"/>
                </a:solidFill>
                <a:latin typeface="Calibri"/>
              </a:rPr>
              <a:t>2/1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0656" y="2587752"/>
            <a:ext cx="12984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6A6256"/>
                </a:solidFill>
                <a:latin typeface="Calibri"/>
              </a:rPr>
              <a:t>Positive / negative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657600"/>
            <a:ext cx="5440680" cy="182880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77240" y="3886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7AE60"/>
                </a:solidFill>
                <a:latin typeface="Calibri"/>
              </a:rPr>
              <a:t>Expansion upside
Vertex Pharmaceuticals adds +$180K in annual revenue.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006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1F1B16"/>
                </a:solidFill>
                <a:latin typeface="Calibri"/>
              </a:rPr>
              <a:t>Expansion Amendment — Added Conga Analytics Suite (200 seats), uplift unchanged at 5%, onboarding services included.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657600"/>
            <a:ext cx="5440680" cy="182880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446520" y="388620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8B2F1D"/>
                </a:solidFill>
                <a:latin typeface="Calibri"/>
              </a:rPr>
              <a:t>Contraction risk
Cascade Financial Group removes -$72K in annual revenue.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4800600"/>
            <a:ext cx="4937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dirty="0">
                <a:solidFill>
                  <a:srgbClr val="1F1B16"/>
                </a:solidFill>
                <a:latin typeface="Calibri"/>
              </a:rPr>
              <a:t>Amendment No. 2 — Support tier downgraded from premium to standard, seat count reduced from 500 to 400, renewal uplift capped at 2%.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6256"/>
                </a:solidFill>
                <a:latin typeface="Calibri"/>
              </a:rP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2834640" cy="310896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16605A"/>
                </a:solidFill>
                <a:latin typeface="Calibri"/>
              </a:rPr>
              <a:t>AGENT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sz="2800" b="1" dirty="0">
                <a:solidFill>
                  <a:srgbClr val="16605A"/>
                </a:solidFill>
                <a:latin typeface="Calibri"/>
              </a:rPr>
              <a:t>P</a:t>
            </a:r>
            <a:r>
              <a:rPr sz="2800" b="1" dirty="0">
                <a:solidFill>
                  <a:srgbClr val="16605A"/>
                </a:solidFill>
                <a:latin typeface="Calibri"/>
              </a:rPr>
              <a:t>re-</a:t>
            </a:r>
            <a:r>
              <a:rPr lang="en-IN" sz="2800" b="1" dirty="0">
                <a:solidFill>
                  <a:srgbClr val="16605A"/>
                </a:solidFill>
                <a:latin typeface="Calibri"/>
              </a:rPr>
              <a:t>S</a:t>
            </a:r>
            <a:r>
              <a:rPr sz="2800" b="1" dirty="0" err="1">
                <a:solidFill>
                  <a:srgbClr val="16605A"/>
                </a:solidFill>
                <a:latin typeface="Calibri"/>
              </a:rPr>
              <a:t>ign</a:t>
            </a:r>
            <a:r>
              <a:rPr sz="2800" b="1" dirty="0">
                <a:solidFill>
                  <a:srgbClr val="16605A"/>
                </a:solidFill>
                <a:latin typeface="Calibri"/>
              </a:rPr>
              <a:t> </a:t>
            </a:r>
            <a:r>
              <a:rPr lang="en-IN" sz="2800" b="1" dirty="0">
                <a:solidFill>
                  <a:srgbClr val="16605A"/>
                </a:solidFill>
                <a:latin typeface="Calibri"/>
              </a:rPr>
              <a:t>P</a:t>
            </a:r>
            <a:r>
              <a:rPr sz="2800" b="1" dirty="0">
                <a:solidFill>
                  <a:srgbClr val="16605A"/>
                </a:solidFill>
                <a:latin typeface="Calibri"/>
              </a:rPr>
              <a:t>ricing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" y="1737360"/>
            <a:ext cx="11109960" cy="429768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2635" y="1965960"/>
            <a:ext cx="107016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6605A"/>
                </a:solidFill>
                <a:latin typeface="Calibri"/>
              </a:rPr>
              <a:t>Pre-Sign Pricing Advisor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2635" y="2523744"/>
            <a:ext cx="10305288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 dirty="0">
                <a:solidFill>
                  <a:srgbClr val="16605A"/>
                </a:solidFill>
                <a:latin typeface="Calibri"/>
              </a:rPr>
              <a:t>- </a:t>
            </a:r>
            <a:r>
              <a:rPr sz="1400" dirty="0">
                <a:solidFill>
                  <a:srgbClr val="1F1B16"/>
                </a:solidFill>
                <a:latin typeface="Calibri"/>
              </a:rPr>
              <a:t>8 opportunities scored and 7 uplift recommendations.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16605A"/>
                </a:solidFill>
                <a:latin typeface="Calibri"/>
              </a:rPr>
              <a:t>- </a:t>
            </a:r>
            <a:r>
              <a:rPr sz="1400" dirty="0">
                <a:solidFill>
                  <a:srgbClr val="1F1B16"/>
                </a:solidFill>
                <a:latin typeface="Calibri"/>
              </a:rPr>
              <a:t>+$117.2K in incremental annual contract value.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16605A"/>
                </a:solidFill>
                <a:latin typeface="Calibri"/>
              </a:rPr>
              <a:t>- </a:t>
            </a:r>
            <a:r>
              <a:rPr sz="1400" dirty="0">
                <a:solidFill>
                  <a:srgbClr val="1F1B16"/>
                </a:solidFill>
                <a:latin typeface="Calibri"/>
              </a:rPr>
              <a:t>Average improved close confidence: 76%.</a:t>
            </a:r>
          </a:p>
          <a:p>
            <a:pPr>
              <a:spcBef>
                <a:spcPts val="600"/>
              </a:spcBef>
            </a:pPr>
            <a:r>
              <a:rPr sz="1400" b="1" dirty="0">
                <a:solidFill>
                  <a:srgbClr val="16605A"/>
                </a:solidFill>
                <a:latin typeface="Calibri"/>
              </a:rPr>
              <a:t>- </a:t>
            </a:r>
            <a:r>
              <a:rPr sz="1400" dirty="0">
                <a:solidFill>
                  <a:srgbClr val="1F1B16"/>
                </a:solidFill>
                <a:latin typeface="Calibri"/>
              </a:rPr>
              <a:t>Top recommendation: </a:t>
            </a:r>
            <a:r>
              <a:rPr sz="1400" dirty="0" err="1">
                <a:solidFill>
                  <a:srgbClr val="1F1B16"/>
                </a:solidFill>
                <a:latin typeface="Calibri"/>
              </a:rPr>
              <a:t>Aldera</a:t>
            </a:r>
            <a:r>
              <a:rPr sz="1400" dirty="0">
                <a:solidFill>
                  <a:srgbClr val="1F1B16"/>
                </a:solidFill>
                <a:latin typeface="Calibri"/>
              </a:rPr>
              <a:t> Manufacturing Group at +$30.6K annual lift with 88% projected close confidence.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" y="4983480"/>
            <a:ext cx="1030528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</a:rPr>
              <a:t>Next best examples: Meridian Energy Partners +$23.6K and Solstice Telecom Group +$18.5K.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6256"/>
                </a:solidFill>
                <a:latin typeface="Calibri"/>
              </a:rP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1F0F4E-1FF3-E7CD-6668-A792213EC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4EC33B5-BDC6-6E98-7742-A0308284548D}"/>
              </a:ext>
            </a:extLst>
          </p:cNvPr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2233C3-861F-4A6D-B2A7-EDCCEA46CE9D}"/>
              </a:ext>
            </a:extLst>
          </p:cNvPr>
          <p:cNvSpPr/>
          <p:nvPr/>
        </p:nvSpPr>
        <p:spPr>
          <a:xfrm>
            <a:off x="548640" y="347472"/>
            <a:ext cx="2834640" cy="310896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 dirty="0">
                <a:solidFill>
                  <a:srgbClr val="16605A"/>
                </a:solidFill>
                <a:latin typeface="Calibri"/>
              </a:rPr>
              <a:t>AGENT</a:t>
            </a:r>
            <a:r>
              <a:rPr lang="en-IN" sz="900" b="1" dirty="0">
                <a:solidFill>
                  <a:srgbClr val="16605A"/>
                </a:solidFill>
                <a:latin typeface="Calibri"/>
              </a:rPr>
              <a:t> </a:t>
            </a:r>
            <a:r>
              <a:rPr sz="900" b="1" dirty="0">
                <a:solidFill>
                  <a:srgbClr val="16605A"/>
                </a:solidFill>
                <a:latin typeface="Calibri"/>
              </a:rPr>
              <a:t>5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0FA343-B0AD-2996-1E40-E4F7AAEDB0BD}"/>
              </a:ext>
            </a:extLst>
          </p:cNvPr>
          <p:cNvSpPr txBox="1"/>
          <p:nvPr/>
        </p:nvSpPr>
        <p:spPr>
          <a:xfrm>
            <a:off x="548640" y="749808"/>
            <a:ext cx="107899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dirty="0">
                <a:solidFill>
                  <a:srgbClr val="16605A"/>
                </a:solidFill>
                <a:latin typeface="Calibri"/>
              </a:rPr>
              <a:t>Billing</a:t>
            </a:r>
            <a:r>
              <a:rPr sz="2600" b="1" dirty="0">
                <a:solidFill>
                  <a:srgbClr val="1F1B16"/>
                </a:solidFill>
                <a:latin typeface="Calibri"/>
              </a:rPr>
              <a:t> </a:t>
            </a:r>
            <a:r>
              <a:rPr sz="2800" b="1" dirty="0">
                <a:solidFill>
                  <a:srgbClr val="16605A"/>
                </a:solidFill>
                <a:latin typeface="Calibri"/>
              </a:rPr>
              <a:t>mismatch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C99193B-B9A0-0395-3DDA-5D2FFB18643D}"/>
              </a:ext>
            </a:extLst>
          </p:cNvPr>
          <p:cNvSpPr/>
          <p:nvPr/>
        </p:nvSpPr>
        <p:spPr>
          <a:xfrm>
            <a:off x="548640" y="1737360"/>
            <a:ext cx="11082528" cy="4297680"/>
          </a:xfrm>
          <a:prstGeom prst="rect">
            <a:avLst/>
          </a:prstGeom>
          <a:solidFill>
            <a:srgbClr val="FFFCF5"/>
          </a:solidFill>
          <a:ln w="12700">
            <a:solidFill>
              <a:srgbClr val="D9D2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9F302FF-9CE5-37E0-9316-CA362B41B908}"/>
              </a:ext>
            </a:extLst>
          </p:cNvPr>
          <p:cNvSpPr txBox="1"/>
          <p:nvPr/>
        </p:nvSpPr>
        <p:spPr>
          <a:xfrm>
            <a:off x="822960" y="1965960"/>
            <a:ext cx="1060668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>
                <a:solidFill>
                  <a:srgbClr val="16605A"/>
                </a:solidFill>
                <a:latin typeface="Calibri"/>
              </a:rPr>
              <a:t>Billing vs Contract Mismatch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5031FD-8B88-96A8-E3E6-EC1D0AE61DE7}"/>
              </a:ext>
            </a:extLst>
          </p:cNvPr>
          <p:cNvSpPr txBox="1"/>
          <p:nvPr/>
        </p:nvSpPr>
        <p:spPr>
          <a:xfrm>
            <a:off x="822960" y="2514600"/>
            <a:ext cx="10213848" cy="11849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6 contracts monitored, 3 flagged.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9 findings with 7 high severity.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$54,720 underbilled and $0 overbilled.</a:t>
            </a:r>
          </a:p>
          <a:p>
            <a:pPr>
              <a:spcBef>
                <a:spcPts val="600"/>
              </a:spcBef>
            </a:pPr>
            <a:r>
              <a:rPr sz="1400" b="1">
                <a:solidFill>
                  <a:srgbClr val="16605A"/>
                </a:solidFill>
                <a:latin typeface="Calibri"/>
              </a:rPr>
              <a:t>- </a:t>
            </a:r>
            <a:r>
              <a:rPr sz="1400">
                <a:solidFill>
                  <a:srgbClr val="1F1B16"/>
                </a:solidFill>
                <a:latin typeface="Calibri"/>
              </a:rPr>
              <a:t>Top mismatch: Summit Distribution Group missed $30,720 across 4 invoices after the uplift should have applied.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A4D9C3-A001-CBA2-D012-9D7DADE4126F}"/>
              </a:ext>
            </a:extLst>
          </p:cNvPr>
          <p:cNvSpPr txBox="1"/>
          <p:nvPr/>
        </p:nvSpPr>
        <p:spPr>
          <a:xfrm>
            <a:off x="822960" y="4983480"/>
            <a:ext cx="10017428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6A6256"/>
                </a:solidFill>
                <a:latin typeface="Calibri"/>
              </a:rPr>
              <a:t>This confirms the same contract truth can drive invoice-level audit, not just account-level leakage scoring.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4983AF-4F2C-1C69-225D-58062117989C}"/>
              </a:ext>
            </a:extLst>
          </p:cNvPr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6256"/>
                </a:solidFill>
                <a:latin typeface="Calibri"/>
              </a:rPr>
              <a:t>8/9</a:t>
            </a:r>
          </a:p>
        </p:txBody>
      </p:sp>
    </p:spTree>
    <p:extLst>
      <p:ext uri="{BB962C8B-B14F-4D97-AF65-F5344CB8AC3E}">
        <p14:creationId xmlns:p14="http://schemas.microsoft.com/office/powerpoint/2010/main" val="114347365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1660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8640" y="347472"/>
            <a:ext cx="2834640" cy="310896"/>
          </a:xfrm>
          <a:prstGeom prst="rect">
            <a:avLst/>
          </a:prstGeom>
          <a:solidFill>
            <a:srgbClr val="E2F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16605A"/>
                </a:solidFill>
                <a:latin typeface="Calibri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49808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>
                <a:solidFill>
                  <a:srgbClr val="1F1B16"/>
                </a:solidFill>
                <a:latin typeface="Calibri"/>
              </a:rPr>
              <a:t>Commercial execution intelligence is now a product surface, not a one-off demo.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80467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600" b="1">
                <a:solidFill>
                  <a:srgbClr val="16605A"/>
                </a:solidFill>
                <a:latin typeface="Calibri"/>
              </a:rPr>
              <a:t>- </a:t>
            </a:r>
            <a:r>
              <a:rPr sz="1600">
                <a:solidFill>
                  <a:srgbClr val="1F1B16"/>
                </a:solidFill>
                <a:latin typeface="Calibri"/>
              </a:rPr>
              <a:t>Five live workspaces already reuse one evidence layer instead of rebuilding ingestion and resolution each time.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6605A"/>
                </a:solidFill>
                <a:latin typeface="Calibri"/>
              </a:rPr>
              <a:t>- </a:t>
            </a:r>
            <a:r>
              <a:rPr sz="1600">
                <a:solidFill>
                  <a:srgbClr val="1F1B16"/>
                </a:solidFill>
                <a:latin typeface="Calibri"/>
              </a:rPr>
              <a:t>The current environment proves value even in rule-based fallback, which keeps rollout conservative and deterministic.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6605A"/>
                </a:solidFill>
                <a:latin typeface="Calibri"/>
              </a:rPr>
              <a:t>- </a:t>
            </a:r>
            <a:r>
              <a:rPr sz="1600">
                <a:solidFill>
                  <a:srgbClr val="1F1B16"/>
                </a:solidFill>
                <a:latin typeface="Calibri"/>
              </a:rPr>
              <a:t>The same core can extend into obligation tracking, renewal playbooks, controls, and operator copilots without changing the data model.</a:t>
            </a:r>
          </a:p>
          <a:p>
            <a:pPr>
              <a:spcBef>
                <a:spcPts val="600"/>
              </a:spcBef>
            </a:pPr>
            <a:r>
              <a:rPr sz="1600" b="1">
                <a:solidFill>
                  <a:srgbClr val="16605A"/>
                </a:solidFill>
                <a:latin typeface="Calibri"/>
              </a:rPr>
              <a:t>- </a:t>
            </a:r>
            <a:r>
              <a:rPr sz="1600">
                <a:solidFill>
                  <a:srgbClr val="1F1B16"/>
                </a:solidFill>
                <a:latin typeface="Calibri"/>
              </a:rPr>
              <a:t>Contracts become the commercial source of truth only when pricing, billing, renewal, and operations all act on the same evidence.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961120" y="1783080"/>
            <a:ext cx="2468880" cy="3566160"/>
          </a:xfrm>
          <a:prstGeom prst="rect">
            <a:avLst/>
          </a:prstGeom>
          <a:solidFill>
            <a:srgbClr val="E2F0EF"/>
          </a:solidFill>
          <a:ln w="17780">
            <a:solidFill>
              <a:srgbClr val="1660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281160" y="1965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6605A"/>
                </a:solidFill>
                <a:latin typeface="Calibri"/>
              </a:rPr>
              <a:t>Live 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81160" y="2423160"/>
            <a:ext cx="1828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1B16"/>
                </a:solidFill>
                <a:latin typeface="Calibri"/>
              </a:rPr>
              <a:t>Revenue integrity
Drift detection
Amendment impact
Billing mismatch
Pricing advisor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281160" y="4251960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6605A"/>
                </a:solidFill>
                <a:latin typeface="Calibri"/>
              </a:rPr>
              <a:t>Closing line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89720" y="4572000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1F1B16"/>
                </a:solidFill>
                <a:latin typeface="Calibri"/>
              </a:rPr>
              <a:t>Turn contract truth into pricing, revenue integrity, and operational action.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92840" y="64465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A6256"/>
                </a:solidFill>
                <a:latin typeface="Calibri"/>
              </a:rP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1095</Words>
  <Application>Microsoft Office PowerPoint</Application>
  <PresentationFormat>Custom</PresentationFormat>
  <Paragraphs>157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Manoj Kathare</cp:lastModifiedBy>
  <cp:revision>2</cp:revision>
  <dcterms:created xsi:type="dcterms:W3CDTF">2013-01-27T09:14:16Z</dcterms:created>
  <dcterms:modified xsi:type="dcterms:W3CDTF">2026-06-04T14:03:38Z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edccfee-01fd-4312-8033-43d18efb0b7c_Enabled">
    <vt:lpwstr>true</vt:lpwstr>
  </property>
  <property fmtid="{D5CDD505-2E9C-101B-9397-08002B2CF9AE}" pid="3" name="MSIP_Label_2edccfee-01fd-4312-8033-43d18efb0b7c_SetDate">
    <vt:lpwstr>2026-06-04T14:03:37Z</vt:lpwstr>
  </property>
  <property fmtid="{D5CDD505-2E9C-101B-9397-08002B2CF9AE}" pid="4" name="MSIP_Label_2edccfee-01fd-4312-8033-43d18efb0b7c_Method">
    <vt:lpwstr>Standard</vt:lpwstr>
  </property>
  <property fmtid="{D5CDD505-2E9C-101B-9397-08002B2CF9AE}" pid="5" name="MSIP_Label_2edccfee-01fd-4312-8033-43d18efb0b7c_Name">
    <vt:lpwstr>Internal Use - General</vt:lpwstr>
  </property>
  <property fmtid="{D5CDD505-2E9C-101B-9397-08002B2CF9AE}" pid="6" name="MSIP_Label_2edccfee-01fd-4312-8033-43d18efb0b7c_SiteId">
    <vt:lpwstr>3a41ae53-fb35-4431-be7b-a0b3e1aee3c0</vt:lpwstr>
  </property>
  <property fmtid="{D5CDD505-2E9C-101B-9397-08002B2CF9AE}" pid="7" name="MSIP_Label_2edccfee-01fd-4312-8033-43d18efb0b7c_ActionId">
    <vt:lpwstr>c5a59c1f-0c36-4feb-bc86-8e1d0ed2b01d</vt:lpwstr>
  </property>
  <property fmtid="{D5CDD505-2E9C-101B-9397-08002B2CF9AE}" pid="8" name="MSIP_Label_2edccfee-01fd-4312-8033-43d18efb0b7c_ContentBits">
    <vt:lpwstr>0</vt:lpwstr>
  </property>
  <property fmtid="{D5CDD505-2E9C-101B-9397-08002B2CF9AE}" pid="9" name="MSIP_Label_2edccfee-01fd-4312-8033-43d18efb0b7c_Tag">
    <vt:lpwstr>10, 3, 0, 1</vt:lpwstr>
  </property>
</Properties>
</file>