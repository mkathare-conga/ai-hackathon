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66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754880" cy="6803136"/>
          </a:xfrm>
          <a:prstGeom prst="rect">
            <a:avLst/>
          </a:prstGeom>
          <a:solidFill>
            <a:srgbClr val="166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4023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Commercial Execution
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47472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8E6E4"/>
                </a:solidFill>
                <a:latin typeface="Calibri"/>
              </a:rPr>
              <a:t>4 Live AI Agents
Pre &amp; Post-Signature Revenue Protection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7548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0D0CC"/>
                </a:solidFill>
                <a:latin typeface="Calibri"/>
              </a:rPr>
              <a:t>Team Members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074920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Vighneshwar Bhat
Raghavendra Rao
Manoj Kathare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1828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A6A72"/>
                </a:solidFill>
                <a:latin typeface="Calibri"/>
              </a:rPr>
              <a:t>Hackathon Final Demo · June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246888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2224"/>
                </a:solidFill>
                <a:latin typeface="Calibri"/>
              </a:rPr>
              <a:t>AI-powered platform that optimizes pre-signature
pricing and detects post-signature revenue leakage,
contract drift, and amendment impact.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4389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8B2F1D"/>
                </a:solidFill>
                <a:latin typeface="Calibri"/>
              </a:rPr>
              <a:t>$54,720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4892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72"/>
                </a:solidFill>
                <a:latin typeface="Calibri"/>
              </a:rPr>
              <a:t>missed revenue found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43891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8B2F1D"/>
                </a:solidFill>
                <a:latin typeface="Calibri"/>
              </a:rPr>
              <a:t>$570K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48920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72"/>
                </a:solidFill>
                <a:latin typeface="Calibri"/>
              </a:rPr>
              <a:t>contract drift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43891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7AE60"/>
                </a:solidFill>
                <a:latin typeface="Calibri"/>
              </a:rPr>
              <a:t>+$194K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48920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72"/>
                </a:solidFill>
                <a:latin typeface="Calibri"/>
              </a:rPr>
              <a:t>amendment 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A72"/>
                </a:solidFill>
                <a:latin typeface="Calibri"/>
              </a:rP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66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2743200" cy="292608"/>
          </a:xfrm>
          <a:prstGeom prst="rect">
            <a:avLst/>
          </a:prstGeom>
          <a:solidFill>
            <a:srgbClr val="E2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16605A"/>
                </a:solidFill>
                <a:latin typeface="Calibri"/>
              </a:rPr>
              <a:t>THE BUSINESS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2224"/>
                </a:solidFill>
                <a:latin typeface="Calibri"/>
              </a:rPr>
              <a:t>Revenue leaks after signature when
contract truth is not operationalized.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A72"/>
                </a:solidFill>
                <a:latin typeface="Calibri"/>
              </a:rPr>
              <a:t>Enterprise companies lose millions annually because pricing rights, uplift clauses, and renewal
obligations agreed in contracts are never enforced in downstream billing and operational systems.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749807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500">
                <a:solidFill>
                  <a:srgbClr val="1A2224"/>
                </a:solidFill>
                <a:latin typeface="Calibri"/>
              </a:rPr>
              <a:t>Contract says 5% annual uplift — billing stays flat year after year</a:t>
            </a:r>
          </a:p>
          <a:p>
            <a:pPr>
              <a:spcBef>
                <a:spcPts val="6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500">
                <a:solidFill>
                  <a:srgbClr val="1A2224"/>
                </a:solidFill>
                <a:latin typeface="Calibri"/>
              </a:rPr>
              <a:t>Sales quotes one price — contract gets signed at a different rate</a:t>
            </a:r>
          </a:p>
          <a:p>
            <a:pPr>
              <a:spcBef>
                <a:spcPts val="6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500">
                <a:solidFill>
                  <a:srgbClr val="1A2224"/>
                </a:solidFill>
                <a:latin typeface="Calibri"/>
              </a:rPr>
              <a:t>Amendment changes terms — no one updates billing or provisioning</a:t>
            </a:r>
          </a:p>
          <a:p>
            <a:pPr>
              <a:spcBef>
                <a:spcPts val="6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500">
                <a:solidFill>
                  <a:srgbClr val="1A2224"/>
                </a:solidFill>
                <a:latin typeface="Calibri"/>
              </a:rPr>
              <a:t>Renewal notice window passes — the revenue uplift right expires silently</a:t>
            </a:r>
          </a:p>
          <a:p>
            <a:pPr>
              <a:spcBef>
                <a:spcPts val="6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500">
                <a:solidFill>
                  <a:srgbClr val="1A2224"/>
                </a:solidFill>
                <a:latin typeface="Calibri"/>
              </a:rPr>
              <a:t>No single system connects contract truth to operational reality</a:t>
            </a:r>
          </a:p>
          <a:p>
            <a:pPr>
              <a:spcBef>
                <a:spcPts val="6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500">
                <a:solidFill>
                  <a:srgbClr val="1A2224"/>
                </a:solidFill>
                <a:latin typeface="Calibri"/>
              </a:rPr>
              <a:t>Pre-signature pricing lacks data — sellers leave money on the table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8595360" y="1097280"/>
            <a:ext cx="3200400" cy="5029200"/>
          </a:xfrm>
          <a:prstGeom prst="rect">
            <a:avLst/>
          </a:prstGeom>
          <a:solidFill>
            <a:srgbClr val="E2F0EF"/>
          </a:solidFill>
          <a:ln w="19050">
            <a:solidFill>
              <a:srgbClr val="166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2344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6605A"/>
                </a:solidFill>
                <a:latin typeface="Calibri"/>
              </a:rPr>
              <a:t>Industry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17373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8B2F1D"/>
                </a:solidFill>
                <a:latin typeface="Calibri"/>
              </a:rPr>
              <a:t>9.7%
of billings contain
pricing errors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301752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8B2F1D"/>
                </a:solidFill>
                <a:latin typeface="Calibri"/>
              </a:rPr>
              <a:t>42%
of companies have
no audit 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42976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8B2F1D"/>
                </a:solidFill>
                <a:latin typeface="Calibri"/>
              </a:rPr>
              <a:t>$3M+
average annual
leakage per $100M
in contract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A72"/>
                </a:solidFill>
                <a:latin typeface="Calibri"/>
              </a:rP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66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2743200" cy="292608"/>
          </a:xfrm>
          <a:prstGeom prst="rect">
            <a:avLst/>
          </a:prstGeom>
          <a:solidFill>
            <a:srgbClr val="E2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16605A"/>
                </a:solidFill>
                <a:latin typeface="Calibri"/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2224"/>
                </a:solidFill>
                <a:latin typeface="Calibri"/>
              </a:rPr>
              <a:t>One shared evidence layer.
Four agents on top.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331720"/>
            <a:ext cx="10698480" cy="777240"/>
          </a:xfrm>
          <a:prstGeom prst="rect">
            <a:avLst/>
          </a:prstGeom>
          <a:solidFill>
            <a:srgbClr val="166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9572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Shared Evidence Layer  ·  Document Ingestion  ·  AI Clause Extraction  ·  Governing-Term Resolution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291840"/>
            <a:ext cx="2468880" cy="2011680"/>
          </a:xfrm>
          <a:prstGeom prst="rect">
            <a:avLst/>
          </a:prstGeom>
          <a:solidFill>
            <a:srgbClr val="E2F0EF"/>
          </a:solidFill>
          <a:ln w="19050">
            <a:solidFill>
              <a:srgbClr val="166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3832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224"/>
                </a:solidFill>
                <a:latin typeface="Calibri"/>
              </a:rPr>
              <a:t>Revenue Leakage
Investigator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69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7AE60"/>
                </a:solidFill>
                <a:latin typeface="Calibri"/>
              </a:rPr>
              <a:t>● LIVE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4348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A72"/>
                </a:solidFill>
                <a:latin typeface="Calibri"/>
              </a:rPr>
              <a:t>$54,720 found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3291840"/>
            <a:ext cx="2468880" cy="2011680"/>
          </a:xfrm>
          <a:prstGeom prst="rect">
            <a:avLst/>
          </a:prstGeom>
          <a:solidFill>
            <a:srgbClr val="E2F0EF"/>
          </a:solidFill>
          <a:ln w="19050">
            <a:solidFill>
              <a:srgbClr val="166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33832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224"/>
                </a:solidFill>
                <a:latin typeface="Calibri"/>
              </a:rPr>
              <a:t>Quote-to-Contract
Drift Detector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4069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7AE60"/>
                </a:solidFill>
                <a:latin typeface="Calibri"/>
              </a:rPr>
              <a:t>● LIVE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44348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A72"/>
                </a:solidFill>
                <a:latin typeface="Calibri"/>
              </a:rPr>
              <a:t>$570K drift impact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3291840"/>
            <a:ext cx="2468880" cy="2011680"/>
          </a:xfrm>
          <a:prstGeom prst="rect">
            <a:avLst/>
          </a:prstGeom>
          <a:solidFill>
            <a:srgbClr val="E2F0EF"/>
          </a:solidFill>
          <a:ln w="19050">
            <a:solidFill>
              <a:srgbClr val="166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33832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224"/>
                </a:solidFill>
                <a:latin typeface="Calibri"/>
              </a:rPr>
              <a:t>Amendment Impact
Detector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4069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7AE60"/>
                </a:solidFill>
                <a:latin typeface="Calibri"/>
              </a:rPr>
              <a:t>● LIVE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44348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A72"/>
                </a:solidFill>
                <a:latin typeface="Calibri"/>
              </a:rPr>
              <a:t>+$194K net delta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0" y="3291840"/>
            <a:ext cx="2468880" cy="2011680"/>
          </a:xfrm>
          <a:prstGeom prst="rect">
            <a:avLst/>
          </a:prstGeom>
          <a:solidFill>
            <a:srgbClr val="E2F0EF"/>
          </a:solidFill>
          <a:ln w="19050">
            <a:solidFill>
              <a:srgbClr val="166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0" y="33832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224"/>
                </a:solidFill>
                <a:latin typeface="Calibri"/>
              </a:rPr>
              <a:t>Pre-Sign Pricing
Advisor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4069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7AE60"/>
                </a:solidFill>
                <a:latin typeface="Calibri"/>
              </a:rPr>
              <a:t>● LIVE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44348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A72"/>
                </a:solidFill>
                <a:latin typeface="Calibri"/>
              </a:rPr>
              <a:t>Pre-signature optimization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5486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A6A72"/>
                </a:solidFill>
                <a:latin typeface="Calibri"/>
              </a:rPr>
              <a:t>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A72"/>
                </a:solidFill>
                <a:latin typeface="Calibri"/>
              </a:rPr>
              <a:t>Contracts (PDF/DOCX)  ·  Amendments  ·  Invoices/ERP  ·  Quotes  ·  Renewal Events  ·  Historical Deals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A72"/>
                </a:solidFill>
                <a:latin typeface="Calibri"/>
              </a:rP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66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2743200" cy="292608"/>
          </a:xfrm>
          <a:prstGeom prst="rect">
            <a:avLst/>
          </a:prstGeom>
          <a:solidFill>
            <a:srgbClr val="E2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16605A"/>
                </a:solidFill>
                <a:latin typeface="Calibri"/>
              </a:rPr>
              <a:t>AGENT 1 — REVENUE LEAKAGE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6605A"/>
                </a:solidFill>
                <a:latin typeface="Calibri"/>
              </a:rPr>
              <a:t>Revenue Leakage
Investigator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A72"/>
                </a:solidFill>
                <a:latin typeface="Calibri"/>
              </a:rPr>
              <a:t>Finds missed revenue the business was already entitled to charge.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6605A"/>
                </a:solidFill>
                <a:latin typeface="Calibri"/>
              </a:rPr>
              <a:t>WHAT IT DETECTS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5943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400">
                <a:solidFill>
                  <a:srgbClr val="1A2224"/>
                </a:solidFill>
                <a:latin typeface="Calibri"/>
              </a:rPr>
              <a:t>Missed uplift — invoice vs. contract obligation comparison</a:t>
            </a:r>
          </a:p>
          <a:p>
            <a:pPr>
              <a:spcBef>
                <a:spcPts val="6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400">
                <a:solidFill>
                  <a:srgbClr val="1A2224"/>
                </a:solidFill>
                <a:latin typeface="Calibri"/>
              </a:rPr>
              <a:t>At-risk accounts — notice deadline approaching without action</a:t>
            </a:r>
          </a:p>
          <a:p>
            <a:pPr>
              <a:spcBef>
                <a:spcPts val="6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400">
                <a:solidFill>
                  <a:srgbClr val="1A2224"/>
                </a:solidFill>
                <a:latin typeface="Calibri"/>
              </a:rPr>
              <a:t>Amendment precedence — resolves which doc legally controls the rate</a:t>
            </a:r>
          </a:p>
          <a:p>
            <a:pPr>
              <a:spcBef>
                <a:spcPts val="6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400">
                <a:solidFill>
                  <a:srgbClr val="1A2224"/>
                </a:solidFill>
                <a:latin typeface="Calibri"/>
              </a:rPr>
              <a:t>Dollar quantification — exact per-account missed revenue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2651760"/>
            <a:ext cx="3657600" cy="3291840"/>
          </a:xfrm>
          <a:prstGeom prst="rect">
            <a:avLst/>
          </a:prstGeom>
          <a:solidFill>
            <a:srgbClr val="E2F0EF"/>
          </a:solidFill>
          <a:ln w="15240">
            <a:solidFill>
              <a:srgbClr val="166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27432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6605A"/>
                </a:solidFill>
                <a:latin typeface="Calibri"/>
              </a:rPr>
              <a:t>LIVE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310896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224"/>
                </a:solidFill>
                <a:latin typeface="Calibri"/>
              </a:rPr>
              <a:t>3 leakage cases
$54,720 total missed
1 at-risk prediction
$6,000 at stake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45720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2F1D"/>
                </a:solidFill>
                <a:latin typeface="Calibri"/>
              </a:rPr>
              <a:t>Key insight: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484632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2F1D"/>
                </a:solidFill>
                <a:latin typeface="Calibri"/>
              </a:rPr>
              <a:t>Resolves conflicting contract
terms to find the single
controlling source of truth.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A72"/>
                </a:solidFill>
                <a:latin typeface="Calibri"/>
              </a:rP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66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2743200" cy="292608"/>
          </a:xfrm>
          <a:prstGeom prst="rect">
            <a:avLst/>
          </a:prstGeom>
          <a:solidFill>
            <a:srgbClr val="E2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16605A"/>
                </a:solidFill>
                <a:latin typeface="Calibri"/>
              </a:rPr>
              <a:t>AGENT 2 — DRIFT DETECTOR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6605A"/>
                </a:solidFill>
                <a:latin typeface="Calibri"/>
              </a:rPr>
              <a:t>Quote-to-Contract
Drift Detector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A72"/>
                </a:solidFill>
                <a:latin typeface="Calibri"/>
              </a:rPr>
              <a:t>Compares what was quoted vs. what was signed — catches negotiation drift.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6605A"/>
                </a:solidFill>
                <a:latin typeface="Calibri"/>
              </a:rP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5943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400">
                <a:solidFill>
                  <a:srgbClr val="1A2224"/>
                </a:solidFill>
                <a:latin typeface="Calibri"/>
              </a:rPr>
              <a:t>AI extracts contract facts from uploaded documents</a:t>
            </a:r>
          </a:p>
          <a:p>
            <a:pPr>
              <a:spcBef>
                <a:spcPts val="6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400">
                <a:solidFill>
                  <a:srgbClr val="1A2224"/>
                </a:solidFill>
                <a:latin typeface="Calibri"/>
              </a:rPr>
              <a:t>Line-by-line comparison: price, quantity, term, SLA per quote line</a:t>
            </a:r>
          </a:p>
          <a:p>
            <a:pPr>
              <a:spcBef>
                <a:spcPts val="6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400">
                <a:solidFill>
                  <a:srgbClr val="1A2224"/>
                </a:solidFill>
                <a:latin typeface="Calibri"/>
              </a:rPr>
              <a:t>Scope drift detection: items quoted but missing from contract</a:t>
            </a:r>
          </a:p>
          <a:p>
            <a:pPr>
              <a:spcBef>
                <a:spcPts val="6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400">
                <a:solidFill>
                  <a:srgbClr val="1A2224"/>
                </a:solidFill>
                <a:latin typeface="Calibri"/>
              </a:rPr>
              <a:t>Impact scoring with severity classification (high/medium/low)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2651760"/>
            <a:ext cx="3657600" cy="3291840"/>
          </a:xfrm>
          <a:prstGeom prst="rect">
            <a:avLst/>
          </a:prstGeom>
          <a:solidFill>
            <a:srgbClr val="E2F0EF"/>
          </a:solidFill>
          <a:ln w="15240">
            <a:solidFill>
              <a:srgbClr val="166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27432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6605A"/>
                </a:solidFill>
                <a:latin typeface="Calibri"/>
              </a:rPr>
              <a:t>LIVE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310896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224"/>
                </a:solidFill>
                <a:latin typeface="Calibri"/>
              </a:rPr>
              <a:t>3 quotes analyzed
11 drift findings
6 high severity
$570,360 total 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45720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A6A72"/>
                </a:solidFill>
                <a:latin typeface="Calibri"/>
              </a:rPr>
              <a:t>Accounts: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484632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224"/>
                </a:solidFill>
                <a:latin typeface="Calibri"/>
              </a:rPr>
              <a:t>TechVault: $155K
Meridian: $249K
Atlas: $165K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A72"/>
                </a:solidFill>
                <a:latin typeface="Calibri"/>
              </a:rP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66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2743200" cy="292608"/>
          </a:xfrm>
          <a:prstGeom prst="rect">
            <a:avLst/>
          </a:prstGeom>
          <a:solidFill>
            <a:srgbClr val="E2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16605A"/>
                </a:solidFill>
                <a:latin typeface="Calibri"/>
              </a:rPr>
              <a:t>AGENT 3 — AMENDMENT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6605A"/>
                </a:solidFill>
                <a:latin typeface="Calibri"/>
              </a:rPr>
              <a:t>Amendment Impact
Detector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A72"/>
                </a:solidFill>
                <a:latin typeface="Calibri"/>
              </a:rPr>
              <a:t>Identifies downstream operational changes triggered by contract amendments.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6605A"/>
                </a:solidFill>
                <a:latin typeface="Calibri"/>
              </a:rPr>
              <a:t>WHAT IT PRODUCES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5943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400">
                <a:solidFill>
                  <a:srgbClr val="1A2224"/>
                </a:solidFill>
                <a:latin typeface="Calibri"/>
              </a:rPr>
              <a:t>Impact analysis: what changed, before vs. after, severity</a:t>
            </a:r>
          </a:p>
          <a:p>
            <a:pPr>
              <a:spcBef>
                <a:spcPts val="6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400">
                <a:solidFill>
                  <a:srgbClr val="1A2224"/>
                </a:solidFill>
                <a:latin typeface="Calibri"/>
              </a:rPr>
              <a:t>Revenue delta: quantifies annual revenue gain/loss per change</a:t>
            </a:r>
          </a:p>
          <a:p>
            <a:pPr>
              <a:spcBef>
                <a:spcPts val="6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400">
                <a:solidFill>
                  <a:srgbClr val="1A2224"/>
                </a:solidFill>
                <a:latin typeface="Calibri"/>
              </a:rPr>
              <a:t>Action items: billing updates, workflow changes, provisioning needed</a:t>
            </a:r>
          </a:p>
          <a:p>
            <a:pPr>
              <a:spcBef>
                <a:spcPts val="6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400">
                <a:solidFill>
                  <a:srgbClr val="1A2224"/>
                </a:solidFill>
                <a:latin typeface="Calibri"/>
              </a:rPr>
              <a:t>Team routing: auto-assigns to RevOps, Engineering, Legal, CS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2651760"/>
            <a:ext cx="3657600" cy="3474720"/>
          </a:xfrm>
          <a:prstGeom prst="rect">
            <a:avLst/>
          </a:prstGeom>
          <a:solidFill>
            <a:srgbClr val="E2F0EF"/>
          </a:solidFill>
          <a:ln w="15240">
            <a:solidFill>
              <a:srgbClr val="166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27432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6605A"/>
                </a:solidFill>
                <a:latin typeface="Calibri"/>
              </a:rPr>
              <a:t>LIVE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310896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224"/>
                </a:solidFill>
                <a:latin typeface="Calibri"/>
              </a:rPr>
              <a:t>3 amendments analyzed
11 impacts detected
14 open action items
+$194,400 net delta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466344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224"/>
                </a:solidFill>
                <a:latin typeface="Calibri"/>
              </a:rPr>
              <a:t>GlobalTech: +$86K ▲
Cascade:    –$72K ▼
Vertex:     +$180K 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A72"/>
                </a:solidFill>
                <a:latin typeface="Calibri"/>
              </a:rP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66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2743200" cy="292608"/>
          </a:xfrm>
          <a:prstGeom prst="rect">
            <a:avLst/>
          </a:prstGeom>
          <a:solidFill>
            <a:srgbClr val="E2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16605A"/>
                </a:solidFill>
                <a:latin typeface="Calibri"/>
              </a:rPr>
              <a:t>AGENT 4 — PRE-SIGNATURE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6605A"/>
                </a:solidFill>
                <a:latin typeface="Calibri"/>
              </a:rPr>
              <a:t>Pre-Sign Pricing
Advisor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A72"/>
                </a:solidFill>
                <a:latin typeface="Calibri"/>
              </a:rPr>
              <a:t>Before signature: data-driven pricing recommendations that maximize revenue while preserving deal confidence.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6605A"/>
                </a:solidFill>
                <a:latin typeface="Calibri"/>
              </a:rPr>
              <a:t>WHAT IT DELIVERS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5943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400">
                <a:solidFill>
                  <a:srgbClr val="1A2224"/>
                </a:solidFill>
                <a:latin typeface="Calibri"/>
              </a:rPr>
              <a:t>Recommended improved unit price based on same-company historical deals</a:t>
            </a:r>
          </a:p>
          <a:p>
            <a:pPr>
              <a:spcBef>
                <a:spcPts val="6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400">
                <a:solidFill>
                  <a:srgbClr val="1A2224"/>
                </a:solidFill>
                <a:latin typeface="Calibri"/>
              </a:rPr>
              <a:t>Close-confidence tradeoff — shows risk of pushing price higher</a:t>
            </a:r>
          </a:p>
          <a:p>
            <a:pPr>
              <a:spcBef>
                <a:spcPts val="6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400">
                <a:solidFill>
                  <a:srgbClr val="1A2224"/>
                </a:solidFill>
                <a:latin typeface="Calibri"/>
              </a:rPr>
              <a:t>Pricing floor calculation — minimum acceptable price per account</a:t>
            </a:r>
          </a:p>
          <a:p>
            <a:pPr>
              <a:spcBef>
                <a:spcPts val="6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400">
                <a:solidFill>
                  <a:srgbClr val="1A2224"/>
                </a:solidFill>
                <a:latin typeface="Calibri"/>
              </a:rPr>
              <a:t>Incremental ACV and total contract value impact quantification</a:t>
            </a:r>
          </a:p>
          <a:p>
            <a:pPr>
              <a:spcBef>
                <a:spcPts val="6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400">
                <a:solidFill>
                  <a:srgbClr val="1A2224"/>
                </a:solidFill>
                <a:latin typeface="Calibri"/>
              </a:rPr>
              <a:t>Approval path and signing considerations for deal desk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2651760"/>
            <a:ext cx="3657600" cy="3474720"/>
          </a:xfrm>
          <a:prstGeom prst="rect">
            <a:avLst/>
          </a:prstGeom>
          <a:solidFill>
            <a:srgbClr val="E2F0EF"/>
          </a:solidFill>
          <a:ln w="15240">
            <a:solidFill>
              <a:srgbClr val="166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27432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6605A"/>
                </a:solidFill>
                <a:latin typeface="Calibri"/>
              </a:rPr>
              <a:t>LIVE CAPABILITIES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310896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224"/>
                </a:solidFill>
                <a:latin typeface="Calibri"/>
              </a:rPr>
              <a:t>Historical deal analysis
Same-company win rates
Confidence scoring
Price optimization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46634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Calibri"/>
              </a:rPr>
              <a:t>Value proposition: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493776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7AE60"/>
                </a:solidFill>
                <a:latin typeface="Calibri"/>
              </a:rPr>
              <a:t>Helps sellers capture
3-8% more revenue per
deal without losing
close rate.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A72"/>
                </a:solidFill>
                <a:latin typeface="Calibri"/>
              </a:rP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66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2743200" cy="292608"/>
          </a:xfrm>
          <a:prstGeom prst="rect">
            <a:avLst/>
          </a:prstGeom>
          <a:solidFill>
            <a:srgbClr val="E2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16605A"/>
                </a:solidFill>
                <a:latin typeface="Calibri"/>
              </a:rPr>
              <a:t>BUSINESS VALUE &amp;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2224"/>
                </a:solidFill>
                <a:latin typeface="Calibri"/>
              </a:rPr>
              <a:t>Measurable revenue impact
from day 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86000"/>
            <a:ext cx="2651760" cy="3017520"/>
          </a:xfrm>
          <a:prstGeom prst="rect">
            <a:avLst/>
          </a:prstGeom>
          <a:solidFill>
            <a:srgbClr val="E2F0EF"/>
          </a:solidFill>
          <a:ln w="15240">
            <a:solidFill>
              <a:srgbClr val="166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423160"/>
            <a:ext cx="2468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8B2F1D"/>
                </a:solidFill>
                <a:latin typeface="Calibri"/>
              </a:rPr>
              <a:t>$54,720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224"/>
                </a:solidFill>
                <a:latin typeface="Calibri"/>
              </a:rPr>
              <a:t>Missed Revenue
Recovered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749039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A72"/>
                </a:solidFill>
                <a:latin typeface="Calibri"/>
              </a:rPr>
              <a:t>Immediate uplift from
enforcing existing contract
rights already earned.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64992" y="2286000"/>
            <a:ext cx="2651760" cy="3017520"/>
          </a:xfrm>
          <a:prstGeom prst="rect">
            <a:avLst/>
          </a:prstGeom>
          <a:solidFill>
            <a:srgbClr val="E2F0EF"/>
          </a:solidFill>
          <a:ln w="15240">
            <a:solidFill>
              <a:srgbClr val="166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6432" y="2423160"/>
            <a:ext cx="2468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8B2F1D"/>
                </a:solidFill>
                <a:latin typeface="Calibri"/>
              </a:rPr>
              <a:t>$570,360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6432" y="3017520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224"/>
                </a:solidFill>
                <a:latin typeface="Calibri"/>
              </a:rPr>
              <a:t>Contract Drift
Prevented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3749039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A72"/>
                </a:solidFill>
                <a:latin typeface="Calibri"/>
              </a:rPr>
              <a:t>Quote-to-contract gaps
caught before they become
permanent revenue loss.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1344" y="2286000"/>
            <a:ext cx="2651760" cy="3017520"/>
          </a:xfrm>
          <a:prstGeom prst="rect">
            <a:avLst/>
          </a:prstGeom>
          <a:solidFill>
            <a:srgbClr val="E2F0EF"/>
          </a:solidFill>
          <a:ln w="15240">
            <a:solidFill>
              <a:srgbClr val="166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3" y="2423160"/>
            <a:ext cx="2468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7AE60"/>
                </a:solidFill>
                <a:latin typeface="Calibri"/>
              </a:rPr>
              <a:t>+$194,400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2783" y="3017520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224"/>
                </a:solidFill>
                <a:latin typeface="Calibri"/>
              </a:rPr>
              <a:t>Amendment Impact
Quantified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8504" y="3749039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A72"/>
                </a:solidFill>
                <a:latin typeface="Calibri"/>
              </a:rPr>
              <a:t>Net positive revenue from
amendments routed to the
right teams for action.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97696" y="2286000"/>
            <a:ext cx="2651760" cy="3017520"/>
          </a:xfrm>
          <a:prstGeom prst="rect">
            <a:avLst/>
          </a:prstGeom>
          <a:solidFill>
            <a:srgbClr val="E2F0EF"/>
          </a:solidFill>
          <a:ln w="15240">
            <a:solidFill>
              <a:srgbClr val="166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89136" y="2423160"/>
            <a:ext cx="24688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7AE60"/>
                </a:solidFill>
                <a:latin typeface="Calibri"/>
              </a:rPr>
              <a:t>3-8%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89136" y="3017520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224"/>
                </a:solidFill>
                <a:latin typeface="Calibri"/>
              </a:rPr>
              <a:t>Pricing Uplift
Per Deal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4856" y="3749039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A72"/>
                </a:solidFill>
                <a:latin typeface="Calibri"/>
              </a:rPr>
              <a:t>Data-driven pricing raises
ACV without reducing
close confidence.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224"/>
                </a:solidFill>
                <a:latin typeface="Calibri"/>
              </a:rPr>
              <a:t>For a company with $100M in contract value: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605A"/>
                </a:solidFill>
                <a:latin typeface="Calibri"/>
              </a:rPr>
              <a:t>Conservative estimate: $800K–$1.2M in recoverable or protectable revenue annually  ·  ROI payback: &lt; 3 months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A72"/>
                </a:solidFill>
                <a:latin typeface="Calibri"/>
              </a:rP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66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2743200" cy="292608"/>
          </a:xfrm>
          <a:prstGeom prst="rect">
            <a:avLst/>
          </a:prstGeom>
          <a:solidFill>
            <a:srgbClr val="E2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16605A"/>
                </a:solidFill>
                <a:latin typeface="Calibri"/>
              </a:rPr>
              <a:t>HOW WE BUILT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224"/>
                </a:solidFill>
                <a:latin typeface="Calibri"/>
              </a:rPr>
              <a:t>AI reads. Logic calculates.
Neither alone is enough.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94560"/>
            <a:ext cx="5303520" cy="2560320"/>
          </a:xfrm>
          <a:prstGeom prst="rect">
            <a:avLst/>
          </a:prstGeom>
          <a:solidFill>
            <a:srgbClr val="E2F0EF"/>
          </a:solidFill>
          <a:ln w="12700">
            <a:solidFill>
              <a:srgbClr val="166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6605A"/>
                </a:solidFill>
                <a:latin typeface="Calibri"/>
              </a:rPr>
              <a:t>What AI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300">
                <a:solidFill>
                  <a:srgbClr val="1A2224"/>
                </a:solidFill>
                <a:latin typeface="Calibri"/>
              </a:rPr>
              <a:t>Extracts clauses from unstructured contract language</a:t>
            </a:r>
          </a:p>
          <a:p>
            <a:pPr>
              <a:spcBef>
                <a:spcPts val="6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300">
                <a:solidFill>
                  <a:srgbClr val="1A2224"/>
                </a:solidFill>
                <a:latin typeface="Calibri"/>
              </a:rPr>
              <a:t>Resolves which document controls a given term</a:t>
            </a:r>
          </a:p>
          <a:p>
            <a:pPr>
              <a:spcBef>
                <a:spcPts val="6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300">
                <a:solidFill>
                  <a:srgbClr val="1A2224"/>
                </a:solidFill>
                <a:latin typeface="Calibri"/>
              </a:rPr>
              <a:t>Generates investigation briefs and pricing insights</a:t>
            </a:r>
          </a:p>
          <a:p>
            <a:pPr>
              <a:spcBef>
                <a:spcPts val="6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300">
                <a:solidFill>
                  <a:srgbClr val="1A2224"/>
                </a:solidFill>
                <a:latin typeface="Calibri"/>
              </a:rPr>
              <a:t>Handles varied formats, messy language, version drift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2194560"/>
            <a:ext cx="5303520" cy="2560320"/>
          </a:xfrm>
          <a:prstGeom prst="rect">
            <a:avLst/>
          </a:prstGeom>
          <a:solidFill>
            <a:srgbClr val="F0F0F0"/>
          </a:solidFill>
          <a:ln w="12700">
            <a:solidFill>
              <a:srgbClr val="5A6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3317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A6A72"/>
                </a:solidFill>
                <a:latin typeface="Calibri"/>
              </a:rPr>
              <a:t>What deterministic logic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6974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800" b="1">
                <a:solidFill>
                  <a:srgbClr val="5A6A72"/>
                </a:solidFill>
                <a:latin typeface="Calibri"/>
              </a:rPr>
              <a:t>● </a:t>
            </a:r>
            <a:r>
              <a:rPr sz="1300">
                <a:solidFill>
                  <a:srgbClr val="1A2224"/>
                </a:solidFill>
                <a:latin typeface="Calibri"/>
              </a:rPr>
              <a:t>Calculates exact dollar impact — no hallucination</a:t>
            </a:r>
          </a:p>
          <a:p>
            <a:pPr>
              <a:spcBef>
                <a:spcPts val="600"/>
              </a:spcBef>
            </a:pPr>
            <a:r>
              <a:rPr sz="800" b="1">
                <a:solidFill>
                  <a:srgbClr val="5A6A72"/>
                </a:solidFill>
                <a:latin typeface="Calibri"/>
              </a:rPr>
              <a:t>● </a:t>
            </a:r>
            <a:r>
              <a:rPr sz="1300">
                <a:solidFill>
                  <a:srgbClr val="1A2224"/>
                </a:solidFill>
                <a:latin typeface="Calibri"/>
              </a:rPr>
              <a:t>Evaluates notice windows and deadline math</a:t>
            </a:r>
          </a:p>
          <a:p>
            <a:pPr>
              <a:spcBef>
                <a:spcPts val="600"/>
              </a:spcBef>
            </a:pPr>
            <a:r>
              <a:rPr sz="800" b="1">
                <a:solidFill>
                  <a:srgbClr val="5A6A72"/>
                </a:solidFill>
                <a:latin typeface="Calibri"/>
              </a:rPr>
              <a:t>● </a:t>
            </a:r>
            <a:r>
              <a:rPr sz="1300">
                <a:solidFill>
                  <a:srgbClr val="1A2224"/>
                </a:solidFill>
                <a:latin typeface="Calibri"/>
              </a:rPr>
              <a:t>Line-by-line comparison with severity scoring</a:t>
            </a:r>
          </a:p>
          <a:p>
            <a:pPr>
              <a:spcBef>
                <a:spcPts val="600"/>
              </a:spcBef>
            </a:pPr>
            <a:r>
              <a:rPr sz="800" b="1">
                <a:solidFill>
                  <a:srgbClr val="5A6A72"/>
                </a:solidFill>
                <a:latin typeface="Calibri"/>
              </a:rPr>
              <a:t>● </a:t>
            </a:r>
            <a:r>
              <a:rPr sz="1300">
                <a:solidFill>
                  <a:srgbClr val="1A2224"/>
                </a:solidFill>
                <a:latin typeface="Calibri"/>
              </a:rPr>
              <a:t>Reproducible, auditable results every 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29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6605A"/>
                </a:solidFill>
                <a:latin typeface="Calibri"/>
              </a:rPr>
              <a:t>TECH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303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200">
                <a:solidFill>
                  <a:srgbClr val="1A2224"/>
                </a:solidFill>
                <a:latin typeface="Calibri"/>
              </a:rPr>
              <a:t>React + Vite frontend</a:t>
            </a:r>
          </a:p>
          <a:p>
            <a:pPr>
              <a:spcBef>
                <a:spcPts val="6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200">
                <a:solidFill>
                  <a:srgbClr val="1A2224"/>
                </a:solidFill>
                <a:latin typeface="Calibri"/>
              </a:rPr>
              <a:t>Python FastAPI backend</a:t>
            </a:r>
          </a:p>
          <a:p>
            <a:pPr>
              <a:spcBef>
                <a:spcPts val="6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200">
                <a:solidFill>
                  <a:srgbClr val="1A2224"/>
                </a:solidFill>
                <a:latin typeface="Calibri"/>
              </a:rPr>
              <a:t>GPT-4o via GitHub Models</a:t>
            </a:r>
          </a:p>
          <a:p>
            <a:pPr>
              <a:spcBef>
                <a:spcPts val="6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200">
                <a:solidFill>
                  <a:srgbClr val="1A2224"/>
                </a:solidFill>
                <a:latin typeface="Calibri"/>
              </a:rPr>
              <a:t>PostgreSQL 16</a:t>
            </a:r>
          </a:p>
          <a:p>
            <a:pPr>
              <a:spcBef>
                <a:spcPts val="6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200">
                <a:solidFill>
                  <a:srgbClr val="1A2224"/>
                </a:solidFill>
                <a:latin typeface="Calibri"/>
              </a:rPr>
              <a:t>MinIO object store</a:t>
            </a:r>
          </a:p>
          <a:p>
            <a:pPr>
              <a:spcBef>
                <a:spcPts val="6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200">
                <a:solidFill>
                  <a:srgbClr val="1A2224"/>
                </a:solidFill>
                <a:latin typeface="Calibri"/>
              </a:rPr>
              <a:t>Docker Compose — single command deploy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A72"/>
                </a:solidFill>
                <a:latin typeface="Calibri"/>
              </a:rP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60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Calibri"/>
              </a:rPr>
              <a:t>Commercial Execution
Intelligence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E2F0EF"/>
                </a:solidFill>
                <a:latin typeface="Calibri"/>
              </a:rPr>
              <a:t>Turns contract truth into operational action.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3566160"/>
            <a:ext cx="2377440" cy="1371600"/>
          </a:xfrm>
          <a:prstGeom prst="rect">
            <a:avLst/>
          </a:prstGeom>
          <a:solidFill>
            <a:srgbClr val="1E7A72"/>
          </a:solidFill>
          <a:ln w="12700">
            <a:solidFill>
              <a:srgbClr val="E2F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657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$54,720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2062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8E6E4"/>
                </a:solidFill>
                <a:latin typeface="Calibri"/>
              </a:rPr>
              <a:t>revenue
recovered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0" y="3566160"/>
            <a:ext cx="2377440" cy="1371600"/>
          </a:xfrm>
          <a:prstGeom prst="rect">
            <a:avLst/>
          </a:prstGeom>
          <a:solidFill>
            <a:srgbClr val="1E7A72"/>
          </a:solidFill>
          <a:ln w="12700">
            <a:solidFill>
              <a:srgbClr val="E2F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86200" y="3657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$570K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42062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8E6E4"/>
                </a:solidFill>
                <a:latin typeface="Calibri"/>
              </a:rPr>
              <a:t>drift
prevented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3566160"/>
            <a:ext cx="2377440" cy="1371600"/>
          </a:xfrm>
          <a:prstGeom prst="rect">
            <a:avLst/>
          </a:prstGeom>
          <a:solidFill>
            <a:srgbClr val="1E7A72"/>
          </a:solidFill>
          <a:ln w="12700">
            <a:solidFill>
              <a:srgbClr val="E2F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3657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+$194K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42062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8E6E4"/>
                </a:solidFill>
                <a:latin typeface="Calibri"/>
              </a:rPr>
              <a:t>amendment
impact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0" y="3566160"/>
            <a:ext cx="2377440" cy="1371600"/>
          </a:xfrm>
          <a:prstGeom prst="rect">
            <a:avLst/>
          </a:prstGeom>
          <a:solidFill>
            <a:srgbClr val="1E7A72"/>
          </a:solidFill>
          <a:ln w="12700">
            <a:solidFill>
              <a:srgbClr val="E2F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72600" y="3657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3-8%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42062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8E6E4"/>
                </a:solidFill>
                <a:latin typeface="Calibri"/>
              </a:rPr>
              <a:t>pricing
uplift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2120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0D0CC"/>
                </a:solidFill>
                <a:latin typeface="Calibri"/>
              </a:rPr>
              <a:t>4 live agents  ·  Pre &amp; post-signature  ·  AI + deterministic hybrid  ·  Production-ready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7607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9C4C1"/>
                </a:solidFill>
                <a:latin typeface="Calibri"/>
              </a:rPr>
              <a:t>Team: Vighneshwar Bhat  ·  Raghavendra Rao  ·  Manoj Kathare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3093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Thank you  ·  Questions?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A72"/>
                </a:solidFill>
                <a:latin typeface="Calibri"/>
              </a:rP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